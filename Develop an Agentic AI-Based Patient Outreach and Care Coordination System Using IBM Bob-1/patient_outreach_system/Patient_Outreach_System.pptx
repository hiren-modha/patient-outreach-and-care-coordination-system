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825610c7f563461b" /><Relationship Type="http://schemas.openxmlformats.org/package/2006/relationships/metadata/core-properties" Target="/docProps/core.xml" Id="R79141519e34f4f7d" /><Relationship Type="http://schemas.openxmlformats.org/officeDocument/2006/relationships/extended-properties" Target="/docProps/app.xml" Id="R7216c484efdd437c" /><Relationship Type="http://schemas.openxmlformats.org/officeDocument/2006/relationships/custom-properties" Target="/docProps/custom.xml" Id="Ree6e599d87454bba"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66ef9e68ef56481f"/>
  </p:notesMasterIdLst>
  <p:sldIdLst>
    <p:sldId id="256" r:id="R63a5329f6cee4554"/>
    <p:sldId id="257" r:id="R9960ba7fad144709"/>
    <p:sldId id="258" r:id="Rf2821d7d17294b80"/>
    <p:sldId id="259" r:id="R8d447f5c49be4f68"/>
    <p:sldId id="260" r:id="R432cbe8cfa0f4a88"/>
    <p:sldId id="261" r:id="R31852224865a4d8b"/>
    <p:sldId id="262" r:id="Rf7d1b6950d6244bb"/>
    <p:sldId id="263" r:id="R22f08504075843a3"/>
    <p:sldId id="264" r:id="R4d3ffed8d6824a25"/>
    <p:sldId id="265" r:id="Rb52f705239f94b60"/>
    <p:sldId id="266" r:id="R545f32b7d77942d7"/>
    <p:sldId id="267" r:id="R80383af56f6f4cfd"/>
    <p:sldId id="268" r:id="Reb173886c8f041e2"/>
    <p:sldId id="269" r:id="R7cc311eb8f174868"/>
    <p:sldId id="270" r:id="Ra9f0a5c7d8ea4794"/>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63a5329f6cee4554" /><Relationship Type="http://schemas.openxmlformats.org/officeDocument/2006/relationships/notesMaster" Target="/ppt/notesMasters/notesMaster1.xml" Id="R66ef9e68ef56481f" /><Relationship Type="http://schemas.openxmlformats.org/officeDocument/2006/relationships/slide" Target="/ppt/slides/slide2.xml" Id="R9960ba7fad144709" /><Relationship Type="http://schemas.openxmlformats.org/officeDocument/2006/relationships/slide" Target="/ppt/slides/slide3.xml" Id="Rf2821d7d17294b80" /><Relationship Type="http://schemas.openxmlformats.org/officeDocument/2006/relationships/slide" Target="/ppt/slides/slide4.xml" Id="R8d447f5c49be4f68" /><Relationship Type="http://schemas.openxmlformats.org/officeDocument/2006/relationships/slide" Target="/ppt/slides/slide5.xml" Id="R432cbe8cfa0f4a88" /><Relationship Type="http://schemas.openxmlformats.org/officeDocument/2006/relationships/slide" Target="/ppt/slides/slide6.xml" Id="R31852224865a4d8b" /><Relationship Type="http://schemas.openxmlformats.org/officeDocument/2006/relationships/slide" Target="/ppt/slides/slide7.xml" Id="Rf7d1b6950d6244bb" /><Relationship Type="http://schemas.openxmlformats.org/officeDocument/2006/relationships/slide" Target="/ppt/slides/slide8.xml" Id="R22f08504075843a3" /><Relationship Type="http://schemas.openxmlformats.org/officeDocument/2006/relationships/slide" Target="/ppt/slides/slide9.xml" Id="R4d3ffed8d6824a25" /><Relationship Type="http://schemas.openxmlformats.org/officeDocument/2006/relationships/slide" Target="/ppt/slides/slide10.xml" Id="Rb52f705239f94b60" /><Relationship Type="http://schemas.openxmlformats.org/officeDocument/2006/relationships/slide" Target="/ppt/slides/slide11.xml" Id="R545f32b7d77942d7" /><Relationship Type="http://schemas.openxmlformats.org/officeDocument/2006/relationships/slide" Target="/ppt/slides/slide12.xml" Id="R80383af56f6f4cfd" /><Relationship Type="http://schemas.openxmlformats.org/officeDocument/2006/relationships/slide" Target="/ppt/slides/slide13.xml" Id="Reb173886c8f041e2" /><Relationship Type="http://schemas.openxmlformats.org/officeDocument/2006/relationships/slide" Target="/ppt/slides/slide14.xml" Id="R7cc311eb8f174868" /><Relationship Type="http://schemas.openxmlformats.org/officeDocument/2006/relationships/slide" Target="/ppt/slides/slide15.xml" Id="Ra9f0a5c7d8ea47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363172cfe5d49a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89b38ee1562446ec" /><Relationship Type="http://schemas.openxmlformats.org/officeDocument/2006/relationships/slide" Target="/ppt/slides/slide1.xml" Id="Rea3ec6cd6a644215"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0fb0b7a12c6e4a2a" /><Relationship Type="http://schemas.openxmlformats.org/officeDocument/2006/relationships/slide" Target="/ppt/slides/slide2.xml" Id="R31adfdfa19f54cb1"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35a0787543aa4aa0" /><Relationship Type="http://schemas.openxmlformats.org/officeDocument/2006/relationships/slide" Target="/ppt/slides/slide3.xml" Id="Rbcb98fd690aa4b94"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fe8fd534daf144bb" /><Relationship Type="http://schemas.openxmlformats.org/officeDocument/2006/relationships/slide" Target="/ppt/slides/slide4.xml" Id="R0ada880be6fd473a"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7b888049f249445c" /><Relationship Type="http://schemas.openxmlformats.org/officeDocument/2006/relationships/slide" Target="/ppt/slides/slide5.xml" Id="R7587944ae59149b0"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2101faff33cc4dc7" /><Relationship Type="http://schemas.openxmlformats.org/officeDocument/2006/relationships/slide" Target="/ppt/slides/slide6.xml" Id="R57847f020fe44fde"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03e17498b645497e" /><Relationship Type="http://schemas.openxmlformats.org/officeDocument/2006/relationships/slide" Target="/ppt/slides/slide7.xml" Id="Rfa8d9f4d3aed4b12"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4d2f103a244f478e" /><Relationship Type="http://schemas.openxmlformats.org/officeDocument/2006/relationships/slide" Target="/ppt/slides/slide8.xml" Id="R8627fbac65404b9a"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473ec97c36654c88" /><Relationship Type="http://schemas.openxmlformats.org/officeDocument/2006/relationships/slide" Target="/ppt/slides/slide9.xml" Id="Rb2cc0b19f53b4ef7"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85669ac1d5344194" /><Relationship Type="http://schemas.openxmlformats.org/officeDocument/2006/relationships/slide" Target="/ppt/slides/slide10.xml" Id="Reca8724ed9a34451"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9feb775a1406400d" /><Relationship Type="http://schemas.openxmlformats.org/officeDocument/2006/relationships/slide" Target="/ppt/slides/slide11.xml" Id="Ree7de7aab21b48e8"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8438e4d83e714ec3" /><Relationship Type="http://schemas.openxmlformats.org/officeDocument/2006/relationships/slide" Target="/ppt/slides/slide12.xml" Id="R0eb2334c4073469a"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9255cbde26b941c7" /><Relationship Type="http://schemas.openxmlformats.org/officeDocument/2006/relationships/slide" Target="/ppt/slides/slide13.xml" Id="Rb552da3192f448b5"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d4f0d54c417f4cbb" /><Relationship Type="http://schemas.openxmlformats.org/officeDocument/2006/relationships/slide" Target="/ppt/slides/slide14.xml" Id="R8d868baf07294980"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d135fb2542e14699" /><Relationship Type="http://schemas.openxmlformats.org/officeDocument/2006/relationships/slide" Target="/ppt/slides/slide15.xml" Id="R6e8d1176b4e546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Title slide. This project was developed using IBM Bob as the AI development assistant and integrates IBM Granite for AI-generated patient explanations. All data used is synthetic.</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four main components of the system: Patient Risk Register, Agentic AI Pipeline, Human-in-the-Loop workflow, and Dashboard/Reports. Each component is represented as a Bento tile.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has 4 layers: Browser (HTML/CSS/JS), FastAPI Backend, SQLite DB via SQLAlchemy ORM, and the AI Agents module. IBM Granite is an optional external API - the system falls back to rule-based AI automatically.</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Dashboard page — shows risk stat tiles (Total/Urgent/High/Medium/Low), outreach status progress bars, a canvas-drawn donut chart showing risk distribution, and a recent outreach activity table. Runs at http://localhost:8000/</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Patient Register page — shows all 10 synthetic patients with colour-coded rows (red=urgent, orange=high, yellow=medium, green=low), HbA1c colour coding, missing data warning flags, and search/filter controls.</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Patient Detail page for James O'Brien (Urgent). Shows patient overview card, AI risk assessment with agent findings, missing data warning banner, and the IBM Granite AI explanation panel. Action buttons at the top allow generating outreach plans, escalating, and submitting reviews.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Outreach Plans page — shows all 10 plans sorted by follow-up date, with colour-coded status badges, one-click status update buttons, and inline AI rationale column.</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Escalations page shows open and resolved cases. Human Review page shows full audit trail of all clinician decisions. Both pages feature modals for resolving and reviewing cases.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Reports page shows summary statistics, risk distribution bars, outreach status breakdown, barrier analysis tiles, and the Responsible AI disclosure section with guardrails documentation.</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7 AI agents are implemented in agents/granite_agent.py. Each agent is a pure Python function with clear inputs, logic rules, and outputs. The IBM Granite agent falls back to a rule-based engine when no API key is configured.</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integration: the system calls Granite 13B Instruct on IBM Cloud when configured. Without an API key the rule-based fallback produces equivalent structured output. The endpoint is GET /api/patients/{id}/explain.</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7 responsible AI guardrails from the project specification are implemented: synthetic data only, no diagnosis, independent ranking review, human-in-the-loop approval, missing data flagging, escalation routing, and full audit trail.</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Technology stack: IBM Bob (development assistant), IBM Granite (AI explanations), Python 3.12, FastAPI, SQLite/SQLAlchemy, HTML5/CSS3/Vanilla JS. Single command startup, no external services required except optional Granite API key.</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22 automated tests pass. The test suite covers all HTML pages, all API endpoints (GET/POST/PATCH), 404 error handling, AI agent output validation, and dashboard stats correctness.</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Key deliverables: functional web prototype, 7 AI agents, human-in-the-loop workflow with audit trail, 22 passing tests, README documentation. Quick-start: cd patient_outreach_system &amp;&amp; python -m uvicorn main:app --reload</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8a394929a142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0eb90364934b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4bd75c626a4e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564202f1cc44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c3ebe3ec39461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c722dace73749bc"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5f6a44f39fc74c3d" /><Relationship Type="http://schemas.openxmlformats.org/officeDocument/2006/relationships/notesSlide" Target="/ppt/notesSlides/notesSlide1.xml" Id="Rd57b8b49a4f846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2fbd3ae9bb437a" /><Relationship Type="http://schemas.openxmlformats.org/officeDocument/2006/relationships/notesSlide" Target="/ppt/notesSlides/notesSlide2.xml" Id="R577455877cc046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81b6481067488c" /><Relationship Type="http://schemas.openxmlformats.org/officeDocument/2006/relationships/notesSlide" Target="/ppt/notesSlides/notesSlide3.xml" Id="R9781b5f0b66d4e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1b231a97484caf" /><Relationship Type="http://schemas.openxmlformats.org/officeDocument/2006/relationships/notesSlide" Target="/ppt/notesSlides/notesSlide4.xml" Id="R214a1ae7429046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2f1c35011e4ba4" /><Relationship Type="http://schemas.openxmlformats.org/officeDocument/2006/relationships/notesSlide" Target="/ppt/notesSlides/notesSlide5.xml" Id="R22b97c6c25224e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332a094fc54ef6" /><Relationship Type="http://schemas.openxmlformats.org/officeDocument/2006/relationships/notesSlide" Target="/ppt/notesSlides/notesSlide6.xml" Id="R2d68e0dea0c54d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053e075a524988" /><Relationship Type="http://schemas.openxmlformats.org/officeDocument/2006/relationships/notesSlide" Target="/ppt/notesSlides/notesSlide7.xml" Id="R1ef81f66e18542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83f1179b19468d" /><Relationship Type="http://schemas.openxmlformats.org/officeDocument/2006/relationships/notesSlide" Target="/ppt/notesSlides/notesSlide8.xml" Id="R858debad1cc946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39645a8a3f46e4" /><Relationship Type="http://schemas.openxmlformats.org/officeDocument/2006/relationships/notesSlide" Target="/ppt/notesSlides/notesSlide9.xml" Id="Reb3e094fadcd49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cc5952de0741be" /><Relationship Type="http://schemas.openxmlformats.org/officeDocument/2006/relationships/notesSlide" Target="/ppt/notesSlides/notesSlide10.xml" Id="R4d445254fcfc4d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d2acad86624371" /><Relationship Type="http://schemas.openxmlformats.org/officeDocument/2006/relationships/notesSlide" Target="/ppt/notesSlides/notesSlide11.xml" Id="Rc7c9e00711fc43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870468a0584441" /><Relationship Type="http://schemas.openxmlformats.org/officeDocument/2006/relationships/notesSlide" Target="/ppt/notesSlides/notesSlide12.xml" Id="R1d1defdbdab844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37a51ad15b4ccd" /><Relationship Type="http://schemas.openxmlformats.org/officeDocument/2006/relationships/notesSlide" Target="/ppt/notesSlides/notesSlide13.xml" Id="R6c010920377841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9a8b5a9a3947da" /><Relationship Type="http://schemas.openxmlformats.org/officeDocument/2006/relationships/notesSlide" Target="/ppt/notesSlides/notesSlide14.xml" Id="R088135715d4345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bc455b90474196" /><Relationship Type="http://schemas.openxmlformats.org/officeDocument/2006/relationships/notesSlide" Target="/ppt/notesSlides/notesSlide15.xml" Id="Reefeec5fac2c4a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0"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IBM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0">
                <a:solidFill>
                  <a:srgbClr val="FFFFFF"/>
                </a:solidFill>
              </a:rPr>
              <a:t>IBM Bob  |  IBM Granite  |  Agentic AI</a:t>
            </a:r>
          </a:p>
        </p:txBody>
      </p:sp>
      <p:sp>
        <p:nvSpPr>
          <p:cNvPr id="100002" name="DateLabel"/>
          <p:cNvSpPr txBox="1"/>
          <p:nvPr/>
        </p:nvSpPr>
        <p:spPr>
          <a:xfrm xmlns:a="http://schemas.openxmlformats.org/drawingml/2006/main">
            <a:off x="10440000" y="72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FFFFFF"/>
                </a:solidFill>
              </a:rPr>
              <a:t>2025</a:t>
            </a:r>
          </a:p>
        </p:txBody>
      </p:sp>
      <p:sp>
        <p:nvSpPr>
          <p:cNvPr id="100003" name="MainTitle"/>
          <p:cNvSpPr txBox="1"/>
          <p:nvPr/>
        </p:nvSpPr>
        <p:spPr>
          <a:xfrm xmlns:a="http://schemas.openxmlformats.org/drawingml/2006/main">
            <a:off x="540000" y="720000"/>
            <a:ext cx="1080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1E3A5F"/>
                </a:solidFill>
                <a:latin typeface="Calibri"/>
                <a:ea typeface="Calibri"/>
              </a:rPr>
              <a:t>Agentic AI Patient Outreach</a:t>
            </a:r>
          </a:p>
          <a:p xmlns:a="http://schemas.openxmlformats.org/drawingml/2006/main">
            <a:r>
              <a:rPr lang="en-US" sz="4000" b="1">
                <a:solidFill>
                  <a:srgbClr val="1E3A5F"/>
                </a:solidFill>
                <a:latin typeface="Calibri"/>
                <a:ea typeface="Calibri"/>
              </a:rPr>
              <a:t>&amp; Care Coordination System</a:t>
            </a:r>
          </a:p>
        </p:txBody>
      </p:sp>
      <p:sp>
        <p:nvSpPr>
          <p:cNvPr id="100004" name="SubTitle"/>
          <p:cNvSpPr txBox="1"/>
          <p:nvPr/>
        </p:nvSpPr>
        <p:spPr>
          <a:xfrm xmlns:a="http://schemas.openxmlformats.org/drawingml/2006/main">
            <a:off x="540000" y="2592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0">
                <a:solidFill>
                  <a:srgbClr val="4472C4"/>
                </a:solidFill>
              </a:rPr>
              <a:t>Built with IBM Bob  •  IBM Granite  •  Python  •  FastAPI  •  SQLite</a:t>
            </a:r>
          </a:p>
        </p:txBody>
      </p:sp>
      <p:sp>
        <p:nvSpPr>
          <p:cNvPr id="100005" name="Divider"/>
          <p:cNvSpPr txBox="1"/>
          <p:nvPr/>
        </p:nvSpPr>
        <p:spPr>
          <a:xfrm xmlns:a="http://schemas.openxmlformats.org/drawingml/2006/main">
            <a:off x="540000" y="3060000"/>
            <a:ext cx="10800000" cy="2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1E3A5F"/>
              </a:solidFill>
            </a:endParaRPr>
          </a:p>
        </p:txBody>
      </p:sp>
      <p:sp>
        <p:nvSpPr>
          <p:cNvPr id="100006" name="Box1"/>
          <p:cNvSpPr txBox="1"/>
          <p:nvPr/>
        </p:nvSpPr>
        <p:spPr>
          <a:xfrm xmlns:a="http://schemas.openxmlformats.org/drawingml/2006/main">
            <a:off x="540000" y="3240000"/>
            <a:ext cx="2340000" cy="126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400" b="0">
                <a:solidFill>
                  <a:srgbClr val="1E3A5F"/>
                </a:solidFill>
              </a:rPr>
              <a:t>10</a:t>
            </a:r>
          </a:p>
          <a:p xmlns:a="http://schemas.openxmlformats.org/drawingml/2006/main">
            <a:r>
              <a:rPr lang="en-US" sz="1400" b="0">
                <a:solidFill>
                  <a:srgbClr val="1E3A5F"/>
                </a:solidFill>
              </a:rPr>
              <a:t>Synthetic Patients</a:t>
            </a:r>
          </a:p>
        </p:txBody>
      </p:sp>
      <p:sp>
        <p:nvSpPr>
          <p:cNvPr id="100007" name="Box2"/>
          <p:cNvSpPr txBox="1"/>
          <p:nvPr/>
        </p:nvSpPr>
        <p:spPr>
          <a:xfrm xmlns:a="http://schemas.openxmlformats.org/drawingml/2006/main">
            <a:off x="3240000" y="3240000"/>
            <a:ext cx="2340000" cy="126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400" b="0">
                <a:solidFill>
                  <a:srgbClr val="1E3A5F"/>
                </a:solidFill>
              </a:rPr>
              <a:t>7</a:t>
            </a:r>
          </a:p>
          <a:p xmlns:a="http://schemas.openxmlformats.org/drawingml/2006/main">
            <a:r>
              <a:rPr lang="en-US" sz="1400" b="0">
                <a:solidFill>
                  <a:srgbClr val="1E3A5F"/>
                </a:solidFill>
              </a:rPr>
              <a:t>AI Agents</a:t>
            </a:r>
          </a:p>
        </p:txBody>
      </p:sp>
      <p:sp>
        <p:nvSpPr>
          <p:cNvPr id="100008" name="Box3"/>
          <p:cNvSpPr txBox="1"/>
          <p:nvPr/>
        </p:nvSpPr>
        <p:spPr>
          <a:xfrm xmlns:a="http://schemas.openxmlformats.org/drawingml/2006/main">
            <a:off x="5940000" y="3240000"/>
            <a:ext cx="2340000" cy="126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400" b="0">
                <a:solidFill>
                  <a:srgbClr val="1E3A5F"/>
                </a:solidFill>
              </a:rPr>
              <a:t>22/22</a:t>
            </a:r>
          </a:p>
          <a:p xmlns:a="http://schemas.openxmlformats.org/drawingml/2006/main">
            <a:r>
              <a:rPr lang="en-US" sz="1400" b="0">
                <a:solidFill>
                  <a:srgbClr val="1E3A5F"/>
                </a:solidFill>
              </a:rPr>
              <a:t>Tests Passing</a:t>
            </a:r>
          </a:p>
        </p:txBody>
      </p:sp>
      <p:sp>
        <p:nvSpPr>
          <p:cNvPr id="100009" name="Box4"/>
          <p:cNvSpPr txBox="1"/>
          <p:nvPr/>
        </p:nvSpPr>
        <p:spPr>
          <a:xfrm xmlns:a="http://schemas.openxmlformats.org/drawingml/2006/main">
            <a:off x="8640000" y="3240000"/>
            <a:ext cx="3060000" cy="126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400" b="0">
                <a:solidFill>
                  <a:srgbClr val="1E3A5F"/>
                </a:solidFill>
              </a:rPr>
              <a:t>6</a:t>
            </a:r>
          </a:p>
          <a:p xmlns:a="http://schemas.openxmlformats.org/drawingml/2006/main">
            <a:r>
              <a:rPr lang="en-US" sz="1400" b="0">
                <a:solidFill>
                  <a:srgbClr val="1E3A5F"/>
                </a:solidFill>
              </a:rPr>
              <a:t>Web Pages</a:t>
            </a:r>
          </a:p>
        </p:txBody>
      </p:sp>
      <p:sp>
        <p:nvSpPr>
          <p:cNvPr id="100010" name="Guardrail"/>
          <p:cNvSpPr txBox="1"/>
          <p:nvPr/>
        </p:nvSpPr>
        <p:spPr>
          <a:xfrm xmlns:a="http://schemas.openxmlformats.org/drawingml/2006/main">
            <a:off x="540000" y="4680000"/>
            <a:ext cx="10800000" cy="540000"/>
          </a:xfrm>
          <a:prstGeom xmlns:a="http://schemas.openxmlformats.org/drawingml/2006/main" prst="rect">
            <a:avLst/>
          </a:prstGeom>
          <a:solidFill xmlns:a="http://schemas.openxmlformats.org/drawingml/2006/main">
            <a:srgbClr val="FFF9C4"/>
          </a:solidFill>
        </p:spPr>
        <p:txBody>
          <a:bodyPr xmlns:a="http://schemas.openxmlformats.org/drawingml/2006/main"/>
          <a:lstStyle xmlns:a="http://schemas.openxmlformats.org/drawingml/2006/main"/>
          <a:p xmlns:a="http://schemas.openxmlformats.org/drawingml/2006/main">
            <a:r>
              <a:rPr lang="en-US" sz="1300">
                <a:solidFill>
                  <a:srgbClr val="7C4A00"/>
                </a:solidFill>
              </a:rPr>
              <a:t>⚠  Responsible AI Notice: All data is synthetic. AI recommendations require human clinical review before any action.</a:t>
            </a:r>
          </a:p>
        </p:txBody>
      </p:sp>
      <p:sp>
        <p:nvSpPr>
          <p:cNvPr id="100011"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12" name="BottomText"/>
          <p:cNvSpPr txBox="1"/>
          <p:nvPr/>
        </p:nvSpPr>
        <p:spPr>
          <a:xfrm xmlns:a="http://schemas.openxmlformats.org/drawingml/2006/main">
            <a:off x="180000" y="6552000"/>
            <a:ext cx="11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3"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14"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02  |  Project Overview</a:t>
            </a:r>
          </a:p>
        </p:txBody>
      </p:sp>
      <p:sp>
        <p:nvSpPr>
          <p:cNvPr id="100015" nam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What Was Built</a:t>
            </a:r>
          </a:p>
        </p:txBody>
      </p:sp>
      <p:sp>
        <p:nvSpPr>
          <p:cNvPr id="100016" name="Intro"/>
          <p:cNvSpPr txBox="1"/>
          <p:nvPr/>
        </p:nvSpPr>
        <p:spPr>
          <a:xfrm xmlns:a="http://schemas.openxmlformats.org/drawingml/2006/main">
            <a:off x="540000" y="1116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333333"/>
                </a:solidFill>
              </a:rPr>
              <a:t>A fully functional web application that simulates an AI-assisted care coordination system for chronic disease patients (Type 2 Diabetes). Built with IBM Bob as the AI development assistant.</a:t>
            </a:r>
          </a:p>
        </p:txBody>
      </p:sp>
      <p:sp>
        <p:nvSpPr>
          <p:cNvPr id="100017" name="BentoA"/>
          <p:cNvSpPr txBox="1"/>
          <p:nvPr/>
        </p:nvSpPr>
        <p:spPr>
          <a:xfrm xmlns:a="http://schemas.openxmlformats.org/drawingml/2006/main">
            <a:off x="540000" y="1800000"/>
            <a:ext cx="3420000" cy="252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300">
                <a:solidFill>
                  <a:srgbClr val="1E3A5F"/>
                </a:solidFill>
              </a:rPr>
              <a:t>Patient Risk Register</a:t>
            </a:r>
          </a:p>
          <a:p xmlns:a="http://schemas.openxmlformats.org/drawingml/2006/main">
            <a:r>
              <a:rPr lang="en-US" sz="1300">
                <a:solidFill>
                  <a:srgbClr val="1E3A5F"/>
                </a:solidFill>
              </a:rPr>
              <a:t/>
            </a:r>
          </a:p>
          <a:p xmlns:a="http://schemas.openxmlformats.org/drawingml/2006/main">
            <a:r>
              <a:rPr lang="en-US" sz="1300">
                <a:solidFill>
                  <a:srgbClr val="1E3A5F"/>
                </a:solidFill>
              </a:rPr>
              <a:t>• 10 synthetic patients</a:t>
            </a:r>
          </a:p>
          <a:p xmlns:a="http://schemas.openxmlformats.org/drawingml/2006/main">
            <a:r>
              <a:rPr lang="en-US" sz="1300">
                <a:solidFill>
                  <a:srgbClr val="1E3A5F"/>
                </a:solidFill>
              </a:rPr>
              <a:t>• AI risk scores (0–100)</a:t>
            </a:r>
          </a:p>
          <a:p xmlns:a="http://schemas.openxmlformats.org/drawingml/2006/main">
            <a:r>
              <a:rPr lang="en-US" sz="1300">
                <a:solidFill>
                  <a:srgbClr val="1E3A5F"/>
                </a:solidFill>
              </a:rPr>
              <a:t>• HbA1c &amp; blood pressure</a:t>
            </a:r>
          </a:p>
          <a:p xmlns:a="http://schemas.openxmlformats.org/drawingml/2006/main">
            <a:r>
              <a:rPr lang="en-US" sz="1300">
                <a:solidFill>
                  <a:srgbClr val="1E3A5F"/>
                </a:solidFill>
              </a:rPr>
              <a:t>• Missing data flags</a:t>
            </a:r>
          </a:p>
          <a:p xmlns:a="http://schemas.openxmlformats.org/drawingml/2006/main">
            <a:r>
              <a:rPr lang="en-US" sz="1300">
                <a:solidFill>
                  <a:srgbClr val="1E3A5F"/>
                </a:solidFill>
              </a:rPr>
              <a:t>• Reviewed risk levels</a:t>
            </a:r>
          </a:p>
        </p:txBody>
      </p:sp>
      <p:sp>
        <p:nvSpPr>
          <p:cNvPr id="100018" name="BentoB"/>
          <p:cNvSpPr txBox="1"/>
          <p:nvPr/>
        </p:nvSpPr>
        <p:spPr>
          <a:xfrm xmlns:a="http://schemas.openxmlformats.org/drawingml/2006/main">
            <a:off x="4320000" y="1800000"/>
            <a:ext cx="3420000" cy="252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300">
                <a:solidFill>
                  <a:srgbClr val="1E3A5F"/>
                </a:solidFill>
              </a:rPr>
              <a:t>Agentic AI Pipeline</a:t>
            </a:r>
          </a:p>
          <a:p xmlns:a="http://schemas.openxmlformats.org/drawingml/2006/main">
            <a:r>
              <a:rPr lang="en-US" sz="1300">
                <a:solidFill>
                  <a:srgbClr val="1E3A5F"/>
                </a:solidFill>
              </a:rPr>
              <a:t/>
            </a:r>
          </a:p>
          <a:p xmlns:a="http://schemas.openxmlformats.org/drawingml/2006/main">
            <a:r>
              <a:rPr lang="en-US" sz="1300">
                <a:solidFill>
                  <a:srgbClr val="1E3A5F"/>
                </a:solidFill>
              </a:rPr>
              <a:t>• Risk Ranking Review Agent</a:t>
            </a:r>
          </a:p>
          <a:p xmlns:a="http://schemas.openxmlformats.org/drawingml/2006/main">
            <a:r>
              <a:rPr lang="en-US" sz="1300">
                <a:solidFill>
                  <a:srgbClr val="1E3A5F"/>
                </a:solidFill>
              </a:rPr>
              <a:t>• Care Barrier Identification</a:t>
            </a:r>
          </a:p>
          <a:p xmlns:a="http://schemas.openxmlformats.org/drawingml/2006/main">
            <a:r>
              <a:rPr lang="en-US" sz="1300">
                <a:solidFill>
                  <a:srgbClr val="1E3A5F"/>
                </a:solidFill>
              </a:rPr>
              <a:t>• Outreach Planning Agent</a:t>
            </a:r>
          </a:p>
          <a:p xmlns:a="http://schemas.openxmlformats.org/drawingml/2006/main">
            <a:r>
              <a:rPr lang="en-US" sz="1300">
                <a:solidFill>
                  <a:srgbClr val="1E3A5F"/>
                </a:solidFill>
              </a:rPr>
              <a:t>• Escalation Agent</a:t>
            </a:r>
          </a:p>
          <a:p xmlns:a="http://schemas.openxmlformats.org/drawingml/2006/main">
            <a:r>
              <a:rPr lang="en-US" sz="1300">
                <a:solidFill>
                  <a:srgbClr val="1E3A5F"/>
                </a:solidFill>
              </a:rPr>
              <a:t>• IBM Granite Explanations</a:t>
            </a:r>
          </a:p>
        </p:txBody>
      </p:sp>
      <p:sp>
        <p:nvSpPr>
          <p:cNvPr id="100019" name="BentoC"/>
          <p:cNvSpPr txBox="1"/>
          <p:nvPr/>
        </p:nvSpPr>
        <p:spPr>
          <a:xfrm xmlns:a="http://schemas.openxmlformats.org/drawingml/2006/main">
            <a:off x="8100000" y="1800000"/>
            <a:ext cx="3420000" cy="252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300">
                <a:solidFill>
                  <a:srgbClr val="1E3A5F"/>
                </a:solidFill>
              </a:rPr>
              <a:t>Human-in-the-Loop</a:t>
            </a:r>
          </a:p>
          <a:p xmlns:a="http://schemas.openxmlformats.org/drawingml/2006/main">
            <a:r>
              <a:rPr lang="en-US" sz="1300">
                <a:solidFill>
                  <a:srgbClr val="1E3A5F"/>
                </a:solidFill>
              </a:rPr>
              <a:t/>
            </a:r>
          </a:p>
          <a:p xmlns:a="http://schemas.openxmlformats.org/drawingml/2006/main">
            <a:r>
              <a:rPr lang="en-US" sz="1300">
                <a:solidFill>
                  <a:srgbClr val="1E3A5F"/>
                </a:solidFill>
              </a:rPr>
              <a:t>• Clinician review workflow</a:t>
            </a:r>
          </a:p>
          <a:p xmlns:a="http://schemas.openxmlformats.org/drawingml/2006/main">
            <a:r>
              <a:rPr lang="en-US" sz="1300">
                <a:solidFill>
                  <a:srgbClr val="1E3A5F"/>
                </a:solidFill>
              </a:rPr>
              <a:t>• Approve / Reject / Escalate</a:t>
            </a:r>
          </a:p>
          <a:p xmlns:a="http://schemas.openxmlformats.org/drawingml/2006/main">
            <a:r>
              <a:rPr lang="en-US" sz="1300">
                <a:solidFill>
                  <a:srgbClr val="1E3A5F"/>
                </a:solidFill>
              </a:rPr>
              <a:t>• Full audit trail</a:t>
            </a:r>
          </a:p>
          <a:p xmlns:a="http://schemas.openxmlformats.org/drawingml/2006/main">
            <a:r>
              <a:rPr lang="en-US" sz="1300">
                <a:solidFill>
                  <a:srgbClr val="1E3A5F"/>
                </a:solidFill>
              </a:rPr>
              <a:t>• No AI action without sign-off</a:t>
            </a:r>
          </a:p>
          <a:p xmlns:a="http://schemas.openxmlformats.org/drawingml/2006/main">
            <a:r>
              <a:rPr lang="en-US" sz="1300">
                <a:solidFill>
                  <a:srgbClr val="1E3A5F"/>
                </a:solidFill>
              </a:rPr>
              <a:t>• Escalation to senior clinician</a:t>
            </a:r>
          </a:p>
        </p:txBody>
      </p:sp>
      <p:sp>
        <p:nvSpPr>
          <p:cNvPr id="100020" name="BentoD"/>
          <p:cNvSpPr txBox="1"/>
          <p:nvPr/>
        </p:nvSpPr>
        <p:spPr>
          <a:xfrm xmlns:a="http://schemas.openxmlformats.org/drawingml/2006/main">
            <a:off x="540000" y="4500000"/>
            <a:ext cx="5220000" cy="14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300">
                <a:solidFill>
                  <a:srgbClr val="1E3A5F"/>
                </a:solidFill>
              </a:rPr>
              <a:t>Dashboard &amp; Reports</a:t>
            </a:r>
          </a:p>
          <a:p xmlns:a="http://schemas.openxmlformats.org/drawingml/2006/main">
            <a:r>
              <a:rPr lang="en-US" sz="1300">
                <a:solidFill>
                  <a:srgbClr val="1E3A5F"/>
                </a:solidFill>
              </a:rPr>
              <a:t/>
            </a:r>
          </a:p>
          <a:p xmlns:a="http://schemas.openxmlformats.org/drawingml/2006/main">
            <a:r>
              <a:rPr lang="en-US" sz="1300">
                <a:solidFill>
                  <a:srgbClr val="1E3A5F"/>
                </a:solidFill>
              </a:rPr>
              <a:t>• Live stat tiles</a:t>
            </a:r>
          </a:p>
          <a:p xmlns:a="http://schemas.openxmlformats.org/drawingml/2006/main">
            <a:r>
              <a:rPr lang="en-US" sz="1300">
                <a:solidFill>
                  <a:srgbClr val="1E3A5F"/>
                </a:solidFill>
              </a:rPr>
              <a:t>• Risk donut chart</a:t>
            </a:r>
          </a:p>
          <a:p xmlns:a="http://schemas.openxmlformats.org/drawingml/2006/main">
            <a:r>
              <a:rPr lang="en-US" sz="1300">
                <a:solidFill>
                  <a:srgbClr val="1E3A5F"/>
                </a:solidFill>
              </a:rPr>
              <a:t>• Outreach status tracking</a:t>
            </a:r>
          </a:p>
          <a:p xmlns:a="http://schemas.openxmlformats.org/drawingml/2006/main">
            <a:r>
              <a:rPr lang="en-US" sz="1300">
                <a:solidFill>
                  <a:srgbClr val="1E3A5F"/>
                </a:solidFill>
              </a:rPr>
              <a:t>• Barrier analysis</a:t>
            </a:r>
          </a:p>
          <a:p xmlns:a="http://schemas.openxmlformats.org/drawingml/2006/main">
            <a:r>
              <a:rPr lang="en-US" sz="1300">
                <a:solidFill>
                  <a:srgbClr val="1E3A5F"/>
                </a:solidFill>
              </a:rPr>
              <a:t>• Responsible AI disclosure</a:t>
            </a:r>
          </a:p>
        </p:txBody>
      </p:sp>
      <p:sp>
        <p:nvSpPr>
          <p:cNvPr id="100021" name="BentoE"/>
          <p:cNvSpPr txBox="1"/>
          <p:nvPr/>
        </p:nvSpPr>
        <p:spPr>
          <a:xfrm xmlns:a="http://schemas.openxmlformats.org/drawingml/2006/main">
            <a:off x="6120000" y="4500000"/>
            <a:ext cx="5400000" cy="144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300">
                <a:solidFill>
                  <a:srgbClr val="1E3A5F"/>
                </a:solidFill>
              </a:rPr>
              <a:t>REST API</a:t>
            </a:r>
          </a:p>
          <a:p xmlns:a="http://schemas.openxmlformats.org/drawingml/2006/main">
            <a:r>
              <a:rPr lang="en-US" sz="1300">
                <a:solidFill>
                  <a:srgbClr val="1E3A5F"/>
                </a:solidFill>
              </a:rPr>
              <a:t/>
            </a:r>
          </a:p>
          <a:p xmlns:a="http://schemas.openxmlformats.org/drawingml/2006/main">
            <a:r>
              <a:rPr lang="en-US" sz="1300">
                <a:solidFill>
                  <a:srgbClr val="1E3A5F"/>
                </a:solidFill>
              </a:rPr>
              <a:t>• 12 JSON endpoints  •  FastAPI auto-docs at /docs</a:t>
            </a:r>
          </a:p>
          <a:p xmlns:a="http://schemas.openxmlformats.org/drawingml/2006/main">
            <a:r>
              <a:rPr lang="en-US" sz="1300">
                <a:solidFill>
                  <a:srgbClr val="1E3A5F"/>
                </a:solidFill>
              </a:rPr>
              <a:t>• PATCH/POST/GET with validation</a:t>
            </a:r>
          </a:p>
        </p:txBody>
      </p:sp>
      <p:sp>
        <p:nvSpPr>
          <p:cNvPr id="100022"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3"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24"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03  |  System Architecture</a:t>
            </a:r>
          </a:p>
        </p:txBody>
      </p:sp>
      <p:sp>
        <p:nvSpPr>
          <p:cNvPr id="100025"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System Architecture</a:t>
            </a:r>
          </a:p>
        </p:txBody>
      </p:sp>
      <p:sp>
        <p:nvSpPr>
          <p:cNvPr id="100026" name="LayerBrowser"/>
          <p:cNvSpPr txBox="1"/>
          <p:nvPr/>
        </p:nvSpPr>
        <p:spPr>
          <a:xfrm xmlns:a="http://schemas.openxmlformats.org/drawingml/2006/main">
            <a:off x="540000" y="1080000"/>
            <a:ext cx="10800000" cy="792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300" b="0">
                <a:solidFill>
                  <a:srgbClr val="1E3A5F"/>
                </a:solidFill>
              </a:rPr>
              <a:t>BROWSER  (HTML5 + CSS3 + Vanilla JS)</a:t>
            </a:r>
          </a:p>
          <a:p xmlns:a="http://schemas.openxmlformats.org/drawingml/2006/main">
            <a:r>
              <a:rPr lang="en-US" sz="1300" b="0">
                <a:solidFill>
                  <a:srgbClr val="1E3A5F"/>
                </a:solidFill>
              </a:rPr>
              <a:t>Dashboard  •  Patient Register  •  Patient Detail  •  Outreach Plans  •  Escalations  •  Human Reviews  •  Reports</a:t>
            </a:r>
          </a:p>
        </p:txBody>
      </p:sp>
      <p:sp>
        <p:nvSpPr>
          <p:cNvPr id="100027" name="Arrow1"/>
          <p:cNvSpPr txBox="1"/>
          <p:nvPr/>
        </p:nvSpPr>
        <p:spPr>
          <a:xfrm xmlns:a="http://schemas.openxmlformats.org/drawingml/2006/main">
            <a:off x="5040000" y="1944000"/>
            <a:ext cx="216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4472C4"/>
                </a:solidFill>
              </a:rPr>
              <a:t>HTTP Requests / JSON API</a:t>
            </a:r>
          </a:p>
        </p:txBody>
      </p:sp>
      <p:sp>
        <p:nvSpPr>
          <p:cNvPr id="100028" name="LayerFastAPI"/>
          <p:cNvSpPr txBox="1"/>
          <p:nvPr/>
        </p:nvSpPr>
        <p:spPr>
          <a:xfrm xmlns:a="http://schemas.openxmlformats.org/drawingml/2006/main">
            <a:off x="540000" y="2304000"/>
            <a:ext cx="10800000" cy="792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300">
                <a:solidFill>
                  <a:srgbClr val="1E3A5F"/>
                </a:solidFill>
              </a:rPr>
              <a:t>FASTAPI BACKEND  (Python 3.12)</a:t>
            </a:r>
          </a:p>
          <a:p xmlns:a="http://schemas.openxmlformats.org/drawingml/2006/main">
            <a:r>
              <a:rPr lang="en-US" sz="1300">
                <a:solidFill>
                  <a:srgbClr val="1E3A5F"/>
                </a:solidFill>
              </a:rPr>
              <a:t>Page Routes (Jinja2)  •  REST API Endpoints  •  Pydantic Validation  •  Dependency Injection</a:t>
            </a:r>
          </a:p>
        </p:txBody>
      </p:sp>
      <p:sp>
        <p:nvSpPr>
          <p:cNvPr id="100029" name="Arrow2"/>
          <p:cNvSpPr txBox="1"/>
          <p:nvPr/>
        </p:nvSpPr>
        <p:spPr>
          <a:xfrm xmlns:a="http://schemas.openxmlformats.org/drawingml/2006/main">
            <a:off x="2160000" y="3168000"/>
            <a:ext cx="252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4472C4"/>
                </a:solidFill>
              </a:rPr>
              <a:t>SQLAlchemy ORM</a:t>
            </a:r>
          </a:p>
        </p:txBody>
      </p:sp>
      <p:sp>
        <p:nvSpPr>
          <p:cNvPr id="100030" name="Arrow3"/>
          <p:cNvSpPr txBox="1"/>
          <p:nvPr/>
        </p:nvSpPr>
        <p:spPr>
          <a:xfrm xmlns:a="http://schemas.openxmlformats.org/drawingml/2006/main">
            <a:off x="6480000" y="3168000"/>
            <a:ext cx="252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4472C4"/>
                </a:solidFill>
              </a:rPr>
              <a:t>Agent function calls</a:t>
            </a:r>
          </a:p>
        </p:txBody>
      </p:sp>
      <p:sp>
        <p:nvSpPr>
          <p:cNvPr id="100031" name="LayerDB"/>
          <p:cNvSpPr txBox="1"/>
          <p:nvPr/>
        </p:nvSpPr>
        <p:spPr>
          <a:xfrm xmlns:a="http://schemas.openxmlformats.org/drawingml/2006/main">
            <a:off x="540000" y="3528000"/>
            <a:ext cx="4680000" cy="14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300">
                <a:solidFill>
                  <a:srgbClr val="1E3A5F"/>
                </a:solidFill>
              </a:rPr>
              <a:t>SQLITE DATABASE</a:t>
            </a:r>
          </a:p>
          <a:p xmlns:a="http://schemas.openxmlformats.org/drawingml/2006/main">
            <a:r>
              <a:rPr lang="en-US" sz="1300">
                <a:solidFill>
                  <a:srgbClr val="1E3A5F"/>
                </a:solidFill>
              </a:rPr>
              <a:t>Patients  •  CareBarriers</a:t>
            </a:r>
          </a:p>
          <a:p xmlns:a="http://schemas.openxmlformats.org/drawingml/2006/main">
            <a:r>
              <a:rPr lang="en-US" sz="1300">
                <a:solidFill>
                  <a:srgbClr val="1E3A5F"/>
                </a:solidFill>
              </a:rPr>
              <a:t>OutreachPlans  •  Escalations</a:t>
            </a:r>
          </a:p>
          <a:p xmlns:a="http://schemas.openxmlformats.org/drawingml/2006/main">
            <a:r>
              <a:rPr lang="en-US" sz="1300">
                <a:solidFill>
                  <a:srgbClr val="1E3A5F"/>
                </a:solidFill>
              </a:rPr>
              <a:t>ReviewRecords</a:t>
            </a:r>
          </a:p>
        </p:txBody>
      </p:sp>
      <p:sp>
        <p:nvSpPr>
          <p:cNvPr id="100032" name="LayerAgents"/>
          <p:cNvSpPr txBox="1"/>
          <p:nvPr/>
        </p:nvSpPr>
        <p:spPr>
          <a:xfrm xmlns:a="http://schemas.openxmlformats.org/drawingml/2006/main">
            <a:off x="5760000" y="3528000"/>
            <a:ext cx="5580000" cy="144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300">
                <a:solidFill>
                  <a:srgbClr val="1E3A5F"/>
                </a:solidFill>
              </a:rPr>
              <a:t>AI AGENTS  (agents/granite_agent.py)</a:t>
            </a:r>
          </a:p>
          <a:p xmlns:a="http://schemas.openxmlformats.org/drawingml/2006/main">
            <a:r>
              <a:rPr lang="en-US" sz="1300">
                <a:solidFill>
                  <a:srgbClr val="1E3A5F"/>
                </a:solidFill>
              </a:rPr>
              <a:t>Risk Ranking Review  •  Care Barrier ID</a:t>
            </a:r>
          </a:p>
          <a:p xmlns:a="http://schemas.openxmlformats.org/drawingml/2006/main">
            <a:r>
              <a:rPr lang="en-US" sz="1300">
                <a:solidFill>
                  <a:srgbClr val="1E3A5F"/>
                </a:solidFill>
              </a:rPr>
              <a:t>Outreach Planning  •  Escalation Check</a:t>
            </a:r>
          </a:p>
          <a:p xmlns:a="http://schemas.openxmlformats.org/drawingml/2006/main">
            <a:r>
              <a:rPr lang="en-US" sz="1300">
                <a:solidFill>
                  <a:srgbClr val="1E3A5F"/>
                </a:solidFill>
              </a:rPr>
              <a:t>IBM Granite Explanation API</a:t>
            </a:r>
          </a:p>
        </p:txBody>
      </p:sp>
      <p:sp>
        <p:nvSpPr>
          <p:cNvPr id="100033" name="Arrow4"/>
          <p:cNvSpPr txBox="1"/>
          <p:nvPr/>
        </p:nvSpPr>
        <p:spPr>
          <a:xfrm xmlns:a="http://schemas.openxmlformats.org/drawingml/2006/main">
            <a:off x="8640000" y="5040000"/>
            <a:ext cx="216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4472C4"/>
                </a:solidFill>
              </a:rPr>
              <a:t>HTTP (optional)</a:t>
            </a:r>
          </a:p>
        </p:txBody>
      </p:sp>
      <p:sp>
        <p:nvSpPr>
          <p:cNvPr id="100034" name="LayerGranite"/>
          <p:cNvSpPr txBox="1"/>
          <p:nvPr/>
        </p:nvSpPr>
        <p:spPr>
          <a:xfrm xmlns:a="http://schemas.openxmlformats.org/drawingml/2006/main">
            <a:off x="5760000" y="5328000"/>
            <a:ext cx="5580000" cy="900000"/>
          </a:xfrm>
          <a:prstGeom xmlns:a="http://schemas.openxmlformats.org/drawingml/2006/main" prst="rect">
            <a:avLst/>
          </a:prstGeom>
          <a:solidFill xmlns:a="http://schemas.openxmlformats.org/drawingml/2006/main">
            <a:srgbClr val="EDE7F6"/>
          </a:solidFill>
        </p:spPr>
        <p:txBody>
          <a:bodyPr xmlns:a="http://schemas.openxmlformats.org/drawingml/2006/main"/>
          <a:lstStyle xmlns:a="http://schemas.openxmlformats.org/drawingml/2006/main"/>
          <a:p xmlns:a="http://schemas.openxmlformats.org/drawingml/2006/main">
            <a:r>
              <a:rPr lang="en-US" sz="1200">
                <a:solidFill>
                  <a:srgbClr val="1E3A5F"/>
                </a:solidFill>
              </a:rPr>
              <a:t>IBM GRANITE API  (optional)</a:t>
            </a:r>
          </a:p>
          <a:p xmlns:a="http://schemas.openxmlformats.org/drawingml/2006/main">
            <a:r>
              <a:rPr lang="en-US" sz="1200">
                <a:solidFill>
                  <a:srgbClr val="1E3A5F"/>
                </a:solidFill>
              </a:rPr>
              <a:t>Real AI explanations when GRANITE_API_KEY is set</a:t>
            </a:r>
          </a:p>
          <a:p xmlns:a="http://schemas.openxmlformats.org/drawingml/2006/main">
            <a:r>
              <a:rPr lang="en-US" sz="1200">
                <a:solidFill>
                  <a:srgbClr val="1E3A5F"/>
                </a:solidFill>
              </a:rPr>
              <a:t>Falls back to rule-based engine automatically</a:t>
            </a:r>
          </a:p>
        </p:txBody>
      </p:sp>
      <p:sp>
        <p:nvSpPr>
          <p:cNvPr id="100035"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6"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37"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04  |  Screenshot — Dashboard</a:t>
            </a:r>
          </a:p>
        </p:txBody>
      </p:sp>
      <p:sp>
        <p:nvSpPr>
          <p:cNvPr id="100038"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Dashboard  —  http://localhost:8000/</a:t>
            </a:r>
          </a:p>
        </p:txBody>
      </p:sp>
      <p:sp>
        <p:nvSpPr>
          <p:cNvPr id="100039" name="BrowserBar"/>
          <p:cNvSpPr txBox="1"/>
          <p:nvPr/>
        </p:nvSpPr>
        <p:spPr>
          <a:xfrm xmlns:a="http://schemas.openxmlformats.org/drawingml/2006/main">
            <a:off x="540000" y="1044000"/>
            <a:ext cx="10800000" cy="252000"/>
          </a:xfrm>
          <a:prstGeom xmlns:a="http://schemas.openxmlformats.org/drawingml/2006/main" prst="rect">
            <a:avLst/>
          </a:prstGeom>
          <a:solidFill xmlns:a="http://schemas.openxmlformats.org/drawingml/2006/main">
            <a:srgbClr val="F3F4F6"/>
          </a:solidFill>
        </p:spPr>
        <p:txBody>
          <a:bodyPr xmlns:a="http://schemas.openxmlformats.org/drawingml/2006/main"/>
          <a:lstStyle xmlns:a="http://schemas.openxmlformats.org/drawingml/2006/main"/>
          <a:p xmlns:a="http://schemas.openxmlformats.org/drawingml/2006/main">
            <a:r>
              <a:rPr lang="en-US" sz="1100">
                <a:solidFill>
                  <a:srgbClr val="555555"/>
                </a:solidFill>
              </a:rPr>
              <a:t>  http://127.0.0.1:8000/</a:t>
            </a:r>
          </a:p>
        </p:txBody>
      </p:sp>
      <p:sp>
        <p:nvSpPr>
          <p:cNvPr id="100040" name="Sidebar"/>
          <p:cNvSpPr txBox="1"/>
          <p:nvPr/>
        </p:nvSpPr>
        <p:spPr>
          <a:xfrm xmlns:a="http://schemas.openxmlformats.org/drawingml/2006/main">
            <a:off x="540000" y="1332000"/>
            <a:ext cx="1980000" cy="4860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000">
                <a:solidFill>
                  <a:srgbClr val="CBD5E1"/>
                </a:solidFill>
              </a:rPr>
              <a:t>PATIENT OUTREACH</a:t>
            </a:r>
          </a:p>
          <a:p xmlns:a="http://schemas.openxmlformats.org/drawingml/2006/main">
            <a:r>
              <a:rPr lang="en-US" sz="1000">
                <a:solidFill>
                  <a:srgbClr val="CBD5E1"/>
                </a:solidFill>
              </a:rPr>
              <a:t>&amp; CARE COORDINATION</a:t>
            </a:r>
          </a:p>
          <a:p xmlns:a="http://schemas.openxmlformats.org/drawingml/2006/main">
            <a:r>
              <a:rPr lang="en-US" sz="1000">
                <a:solidFill>
                  <a:srgbClr val="CBD5E1"/>
                </a:solidFill>
              </a:rPr>
              <a:t>IBM Bob · IBM Granite</a:t>
            </a:r>
          </a:p>
          <a:p xmlns:a="http://schemas.openxmlformats.org/drawingml/2006/main">
            <a:r>
              <a:rPr lang="en-US" sz="1000">
                <a:solidFill>
                  <a:srgbClr val="CBD5E1"/>
                </a:solidFill>
              </a:rPr>
              <a:t/>
            </a:r>
          </a:p>
          <a:p xmlns:a="http://schemas.openxmlformats.org/drawingml/2006/main">
            <a:r>
              <a:rPr lang="en-US" sz="1000">
                <a:solidFill>
                  <a:srgbClr val="CBD5E1"/>
                </a:solidFill>
              </a:rPr>
              <a:t>  Overview</a:t>
            </a:r>
          </a:p>
          <a:p xmlns:a="http://schemas.openxmlformats.org/drawingml/2006/main">
            <a:r>
              <a:rPr lang="en-US" sz="1000">
                <a:solidFill>
                  <a:srgbClr val="CBD5E1"/>
                </a:solidFill>
              </a:rPr>
              <a:t>  Dashboard</a:t>
            </a:r>
          </a:p>
          <a:p xmlns:a="http://schemas.openxmlformats.org/drawingml/2006/main">
            <a:r>
              <a:rPr lang="en-US" sz="1000">
                <a:solidFill>
                  <a:srgbClr val="CBD5E1"/>
                </a:solidFill>
              </a:rPr>
              <a:t/>
            </a:r>
          </a:p>
          <a:p xmlns:a="http://schemas.openxmlformats.org/drawingml/2006/main">
            <a:r>
              <a:rPr lang="en-US" sz="1000">
                <a:solidFill>
                  <a:srgbClr val="CBD5E1"/>
                </a:solidFill>
              </a:rPr>
              <a:t>  Patients</a:t>
            </a:r>
          </a:p>
          <a:p xmlns:a="http://schemas.openxmlformats.org/drawingml/2006/main">
            <a:r>
              <a:rPr lang="en-US" sz="1000">
                <a:solidFill>
                  <a:srgbClr val="CBD5E1"/>
                </a:solidFill>
              </a:rPr>
              <a:t>  Patient Register</a:t>
            </a:r>
          </a:p>
          <a:p xmlns:a="http://schemas.openxmlformats.org/drawingml/2006/main">
            <a:r>
              <a:rPr lang="en-US" sz="1000">
                <a:solidFill>
                  <a:srgbClr val="CBD5E1"/>
                </a:solidFill>
              </a:rPr>
              <a:t/>
            </a:r>
          </a:p>
          <a:p xmlns:a="http://schemas.openxmlformats.org/drawingml/2006/main">
            <a:r>
              <a:rPr lang="en-US" sz="1000">
                <a:solidFill>
                  <a:srgbClr val="CBD5E1"/>
                </a:solidFill>
              </a:rPr>
              <a:t>  Coordination</a:t>
            </a:r>
          </a:p>
          <a:p xmlns:a="http://schemas.openxmlformats.org/drawingml/2006/main">
            <a:r>
              <a:rPr lang="en-US" sz="1000">
                <a:solidFill>
                  <a:srgbClr val="CBD5E1"/>
                </a:solidFill>
              </a:rPr>
              <a:t>  Outreach Plans</a:t>
            </a:r>
          </a:p>
          <a:p xmlns:a="http://schemas.openxmlformats.org/drawingml/2006/main">
            <a:r>
              <a:rPr lang="en-US" sz="1000">
                <a:solidFill>
                  <a:srgbClr val="CBD5E1"/>
                </a:solidFill>
              </a:rPr>
              <a:t>  Escalations</a:t>
            </a:r>
          </a:p>
          <a:p xmlns:a="http://schemas.openxmlformats.org/drawingml/2006/main">
            <a:r>
              <a:rPr lang="en-US" sz="1000">
                <a:solidFill>
                  <a:srgbClr val="CBD5E1"/>
                </a:solidFill>
              </a:rPr>
              <a:t>  Human Reviews</a:t>
            </a:r>
          </a:p>
          <a:p xmlns:a="http://schemas.openxmlformats.org/drawingml/2006/main">
            <a:r>
              <a:rPr lang="en-US" sz="1000">
                <a:solidFill>
                  <a:srgbClr val="CBD5E1"/>
                </a:solidFill>
              </a:rPr>
              <a:t/>
            </a:r>
          </a:p>
          <a:p xmlns:a="http://schemas.openxmlformats.org/drawingml/2006/main">
            <a:r>
              <a:rPr lang="en-US" sz="1000">
                <a:solidFill>
                  <a:srgbClr val="CBD5E1"/>
                </a:solidFill>
              </a:rPr>
              <a:t>  Analytics</a:t>
            </a:r>
          </a:p>
          <a:p xmlns:a="http://schemas.openxmlformats.org/drawingml/2006/main">
            <a:r>
              <a:rPr lang="en-US" sz="1000">
                <a:solidFill>
                  <a:srgbClr val="CBD5E1"/>
                </a:solidFill>
              </a:rPr>
              <a:t>  Reports</a:t>
            </a:r>
          </a:p>
        </p:txBody>
      </p:sp>
      <p:sp>
        <p:nvSpPr>
          <p:cNvPr id="100041" name="Tile1"/>
          <p:cNvSpPr txBox="1"/>
          <p:nvPr/>
        </p:nvSpPr>
        <p:spPr>
          <a:xfrm xmlns:a="http://schemas.openxmlformats.org/drawingml/2006/main">
            <a:off x="2700000" y="1332000"/>
            <a:ext cx="1980000" cy="108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A56DB"/>
                </a:solidFill>
              </a:rPr>
              <a:t>10</a:t>
            </a:r>
          </a:p>
          <a:p xmlns:a="http://schemas.openxmlformats.org/drawingml/2006/main">
            <a:r>
              <a:rPr lang="en-US" sz="1200">
                <a:solidFill>
                  <a:srgbClr val="1A56DB"/>
                </a:solidFill>
              </a:rPr>
              <a:t>Total Patients</a:t>
            </a:r>
          </a:p>
        </p:txBody>
      </p:sp>
      <p:sp>
        <p:nvSpPr>
          <p:cNvPr id="100042" name="Tile2"/>
          <p:cNvSpPr txBox="1"/>
          <p:nvPr/>
        </p:nvSpPr>
        <p:spPr>
          <a:xfrm xmlns:a="http://schemas.openxmlformats.org/drawingml/2006/main">
            <a:off x="4860000" y="1332000"/>
            <a:ext cx="1980000" cy="1080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200">
                <a:solidFill>
                  <a:srgbClr val="E02424"/>
                </a:solidFill>
              </a:rPr>
              <a:t>3</a:t>
            </a:r>
          </a:p>
          <a:p xmlns:a="http://schemas.openxmlformats.org/drawingml/2006/main">
            <a:r>
              <a:rPr lang="en-US" sz="1200">
                <a:solidFill>
                  <a:srgbClr val="E02424"/>
                </a:solidFill>
              </a:rPr>
              <a:t>Urgent Risk</a:t>
            </a:r>
          </a:p>
        </p:txBody>
      </p:sp>
      <p:sp>
        <p:nvSpPr>
          <p:cNvPr id="100043" name="Tile3"/>
          <p:cNvSpPr txBox="1"/>
          <p:nvPr/>
        </p:nvSpPr>
        <p:spPr>
          <a:xfrm xmlns:a="http://schemas.openxmlformats.org/drawingml/2006/main">
            <a:off x="7020000" y="1332000"/>
            <a:ext cx="1980000" cy="1080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200">
                <a:solidFill>
                  <a:srgbClr val="C05621"/>
                </a:solidFill>
              </a:rPr>
              <a:t>3</a:t>
            </a:r>
          </a:p>
          <a:p xmlns:a="http://schemas.openxmlformats.org/drawingml/2006/main">
            <a:r>
              <a:rPr lang="en-US" sz="1200">
                <a:solidFill>
                  <a:srgbClr val="C05621"/>
                </a:solidFill>
              </a:rPr>
              <a:t>High Risk</a:t>
            </a:r>
          </a:p>
        </p:txBody>
      </p:sp>
      <p:sp>
        <p:nvSpPr>
          <p:cNvPr id="100044" name="Tile4"/>
          <p:cNvSpPr txBox="1"/>
          <p:nvPr/>
        </p:nvSpPr>
        <p:spPr>
          <a:xfrm xmlns:a="http://schemas.openxmlformats.org/drawingml/2006/main">
            <a:off x="9180000" y="1332000"/>
            <a:ext cx="1980000" cy="1080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200">
                <a:solidFill>
                  <a:srgbClr val="7C6B00"/>
                </a:solidFill>
              </a:rPr>
              <a:t>3</a:t>
            </a:r>
          </a:p>
          <a:p xmlns:a="http://schemas.openxmlformats.org/drawingml/2006/main">
            <a:r>
              <a:rPr lang="en-US" sz="1200">
                <a:solidFill>
                  <a:srgbClr val="7C6B00"/>
                </a:solidFill>
              </a:rPr>
              <a:t>Medium Risk</a:t>
            </a:r>
          </a:p>
        </p:txBody>
      </p:sp>
      <p:sp>
        <p:nvSpPr>
          <p:cNvPr id="100045" name="StatusCard"/>
          <p:cNvSpPr txBox="1"/>
          <p:nvPr/>
        </p:nvSpPr>
        <p:spPr>
          <a:xfrm xmlns:a="http://schemas.openxmlformats.org/drawingml/2006/main">
            <a:off x="2700000" y="2520000"/>
            <a:ext cx="3960000" cy="216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100">
                <a:solidFill>
                  <a:srgbClr val="333333"/>
                </a:solidFill>
              </a:rPr>
              <a:t>Outreach Status Summary</a:t>
            </a:r>
          </a:p>
          <a:p xmlns:a="http://schemas.openxmlformats.org/drawingml/2006/main">
            <a:r>
              <a:rPr lang="en-US" sz="1100">
                <a:solidFill>
                  <a:srgbClr val="333333"/>
                </a:solidFill>
              </a:rPr>
              <a:t/>
            </a:r>
          </a:p>
          <a:p xmlns:a="http://schemas.openxmlformats.org/drawingml/2006/main">
            <a:r>
              <a:rPr lang="en-US" sz="1100">
                <a:solidFill>
                  <a:srgbClr val="333333"/>
                </a:solidFill>
              </a:rPr>
              <a:t>Completed    ████████  1</a:t>
            </a:r>
          </a:p>
          <a:p xmlns:a="http://schemas.openxmlformats.org/drawingml/2006/main">
            <a:r>
              <a:rPr lang="en-US" sz="1100">
                <a:solidFill>
                  <a:srgbClr val="333333"/>
                </a:solidFill>
              </a:rPr>
              <a:t>Scheduled    ████  1</a:t>
            </a:r>
          </a:p>
          <a:p xmlns:a="http://schemas.openxmlformats.org/drawingml/2006/main">
            <a:r>
              <a:rPr lang="en-US" sz="1100">
                <a:solidFill>
                  <a:srgbClr val="333333"/>
                </a:solidFill>
              </a:rPr>
              <a:t>Contacted    ████  1</a:t>
            </a:r>
          </a:p>
          <a:p xmlns:a="http://schemas.openxmlformats.org/drawingml/2006/main">
            <a:r>
              <a:rPr lang="en-US" sz="1100">
                <a:solidFill>
                  <a:srgbClr val="333333"/>
                </a:solidFill>
              </a:rPr>
              <a:t>Pending      ████████████  4</a:t>
            </a:r>
          </a:p>
          <a:p xmlns:a="http://schemas.openxmlformats.org/drawingml/2006/main">
            <a:r>
              <a:rPr lang="en-US" sz="1100">
                <a:solidFill>
                  <a:srgbClr val="333333"/>
                </a:solidFill>
              </a:rPr>
              <a:t>No Answer   ████  1</a:t>
            </a:r>
          </a:p>
          <a:p xmlns:a="http://schemas.openxmlformats.org/drawingml/2006/main">
            <a:r>
              <a:rPr lang="en-US" sz="1100">
                <a:solidFill>
                  <a:srgbClr val="333333"/>
                </a:solidFill>
              </a:rPr>
              <a:t>Escalated    ████████  2</a:t>
            </a:r>
          </a:p>
        </p:txBody>
      </p:sp>
      <p:sp>
        <p:nvSpPr>
          <p:cNvPr id="100046" name="ChartCard"/>
          <p:cNvSpPr txBox="1"/>
          <p:nvPr/>
        </p:nvSpPr>
        <p:spPr>
          <a:xfrm xmlns:a="http://schemas.openxmlformats.org/drawingml/2006/main">
            <a:off x="6840000" y="2520000"/>
            <a:ext cx="4500000" cy="216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100">
                <a:solidFill>
                  <a:srgbClr val="333333"/>
                </a:solidFill>
              </a:rPr>
              <a:t>Patient Risk Distribution</a:t>
            </a:r>
          </a:p>
          <a:p xmlns:a="http://schemas.openxmlformats.org/drawingml/2006/main">
            <a:r>
              <a:rPr lang="en-US" sz="1100">
                <a:solidFill>
                  <a:srgbClr val="333333"/>
                </a:solidFill>
              </a:rPr>
              <a:t/>
            </a:r>
          </a:p>
          <a:p xmlns:a="http://schemas.openxmlformats.org/drawingml/2006/main">
            <a:r>
              <a:rPr lang="en-US" sz="1100">
                <a:solidFill>
                  <a:srgbClr val="333333"/>
                </a:solidFill>
              </a:rPr>
              <a:t>        [DONUT CHART]</a:t>
            </a:r>
          </a:p>
          <a:p xmlns:a="http://schemas.openxmlformats.org/drawingml/2006/main">
            <a:r>
              <a:rPr lang="en-US" sz="1100">
                <a:solidFill>
                  <a:srgbClr val="333333"/>
                </a:solidFill>
              </a:rPr>
              <a:t>        10 Patients</a:t>
            </a:r>
          </a:p>
          <a:p xmlns:a="http://schemas.openxmlformats.org/drawingml/2006/main">
            <a:r>
              <a:rPr lang="en-US" sz="1100">
                <a:solidFill>
                  <a:srgbClr val="333333"/>
                </a:solidFill>
              </a:rPr>
              <a:t/>
            </a:r>
          </a:p>
          <a:p xmlns:a="http://schemas.openxmlformats.org/drawingml/2006/main">
            <a:r>
              <a:rPr lang="en-US" sz="1100">
                <a:solidFill>
                  <a:srgbClr val="333333"/>
                </a:solidFill>
              </a:rPr>
              <a:t>  ■ Urgent — 3 (30%)</a:t>
            </a:r>
          </a:p>
          <a:p xmlns:a="http://schemas.openxmlformats.org/drawingml/2006/main">
            <a:r>
              <a:rPr lang="en-US" sz="1100">
                <a:solidFill>
                  <a:srgbClr val="333333"/>
                </a:solidFill>
              </a:rPr>
              <a:t>  ■ High — 3 (30%)</a:t>
            </a:r>
          </a:p>
          <a:p xmlns:a="http://schemas.openxmlformats.org/drawingml/2006/main">
            <a:r>
              <a:rPr lang="en-US" sz="1100">
                <a:solidFill>
                  <a:srgbClr val="333333"/>
                </a:solidFill>
              </a:rPr>
              <a:t>  ■ Medium — 3 (30%)</a:t>
            </a:r>
          </a:p>
          <a:p xmlns:a="http://schemas.openxmlformats.org/drawingml/2006/main">
            <a:r>
              <a:rPr lang="en-US" sz="1100">
                <a:solidFill>
                  <a:srgbClr val="333333"/>
                </a:solidFill>
              </a:rPr>
              <a:t>  ■ Low — 1 (10%)</a:t>
            </a:r>
          </a:p>
        </p:txBody>
      </p:sp>
      <p:sp>
        <p:nvSpPr>
          <p:cNvPr id="100047" name="ScreenCaption"/>
          <p:cNvSpPr txBox="1"/>
          <p:nvPr/>
        </p:nvSpPr>
        <p:spPr>
          <a:xfrm xmlns:a="http://schemas.openxmlformats.org/drawingml/2006/main">
            <a:off x="540000" y="612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6B7280"/>
                </a:solidFill>
              </a:rPr>
              <a:t>The Dashboard provides at-a-glance risk tiles, outreach progress bars, a canvas donut chart, and recent activity — all updated in real-time from the SQLite database.</a:t>
            </a:r>
          </a:p>
        </p:txBody>
      </p:sp>
      <p:sp>
        <p:nvSpPr>
          <p:cNvPr id="100048"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9"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50"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05  |  Screenshot — Patient Register</a:t>
            </a:r>
          </a:p>
        </p:txBody>
      </p:sp>
      <p:sp>
        <p:nvSpPr>
          <p:cNvPr id="100051"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Patient Register  —  /patients</a:t>
            </a:r>
          </a:p>
        </p:txBody>
      </p:sp>
      <p:sp>
        <p:nvSpPr>
          <p:cNvPr id="100052" name="BrowserBar"/>
          <p:cNvSpPr txBox="1"/>
          <p:nvPr/>
        </p:nvSpPr>
        <p:spPr>
          <a:xfrm xmlns:a="http://schemas.openxmlformats.org/drawingml/2006/main">
            <a:off x="540000" y="1044000"/>
            <a:ext cx="10800000" cy="252000"/>
          </a:xfrm>
          <a:prstGeom xmlns:a="http://schemas.openxmlformats.org/drawingml/2006/main" prst="rect">
            <a:avLst/>
          </a:prstGeom>
          <a:solidFill xmlns:a="http://schemas.openxmlformats.org/drawingml/2006/main">
            <a:srgbClr val="F3F4F6"/>
          </a:solidFill>
        </p:spPr>
        <p:txBody>
          <a:bodyPr xmlns:a="http://schemas.openxmlformats.org/drawingml/2006/main"/>
          <a:lstStyle xmlns:a="http://schemas.openxmlformats.org/drawingml/2006/main"/>
          <a:p xmlns:a="http://schemas.openxmlformats.org/drawingml/2006/main">
            <a:r>
              <a:rPr lang="en-US" sz="1100">
                <a:solidFill>
                  <a:srgbClr val="555555"/>
                </a:solidFill>
              </a:rPr>
              <a:t>  http://127.0.0.1:8000/patients</a:t>
            </a:r>
          </a:p>
        </p:txBody>
      </p:sp>
      <p:sp>
        <p:nvSpPr>
          <p:cNvPr id="100053" name="TableHeader"/>
          <p:cNvSpPr txBox="1"/>
          <p:nvPr/>
        </p:nvSpPr>
        <p:spPr>
          <a:xfrm xmlns:a="http://schemas.openxmlformats.org/drawingml/2006/main">
            <a:off x="540000" y="1368000"/>
            <a:ext cx="11160000" cy="216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000" b="1">
                <a:solidFill>
                  <a:srgbClr val="6B7280"/>
                </a:solidFill>
              </a:rPr>
              <a:t>#    Name                Age   Condition                  HbA1c    BP          Last Visit    AI Score   Risk Level     Language</a:t>
            </a:r>
          </a:p>
        </p:txBody>
      </p:sp>
      <p:sp>
        <p:nvSpPr>
          <p:cNvPr id="100054" name="Row1"/>
          <p:cNvSpPr txBox="1"/>
          <p:nvPr/>
        </p:nvSpPr>
        <p:spPr>
          <a:xfrm xmlns:a="http://schemas.openxmlformats.org/drawingml/2006/main">
            <a:off x="540000" y="1620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1    Margaret Thompson    67    Type 2 Diabetes            9.2%     148/92      2024-08-15    87.4       URGENT          English</a:t>
            </a:r>
          </a:p>
        </p:txBody>
      </p:sp>
      <p:sp>
        <p:nvSpPr>
          <p:cNvPr id="100055" name="Row2"/>
          <p:cNvSpPr txBox="1"/>
          <p:nvPr/>
        </p:nvSpPr>
        <p:spPr>
          <a:xfrm xmlns:a="http://schemas.openxmlformats.org/drawingml/2006/main">
            <a:off x="540000" y="1908000"/>
            <a:ext cx="11160000" cy="252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000">
                <a:solidFill>
                  <a:srgbClr val="333333"/>
                </a:solidFill>
              </a:rPr>
              <a:t>2    Carlos Rivera         54    Type 2 Diabetes            8.1%     135/85      2024-10-02    72.1       HIGH            Spanish</a:t>
            </a:r>
          </a:p>
        </p:txBody>
      </p:sp>
      <p:sp>
        <p:nvSpPr>
          <p:cNvPr id="100056" name="Row3"/>
          <p:cNvSpPr txBox="1"/>
          <p:nvPr/>
        </p:nvSpPr>
        <p:spPr>
          <a:xfrm xmlns:a="http://schemas.openxmlformats.org/drawingml/2006/main">
            <a:off x="540000" y="2196000"/>
            <a:ext cx="11160000" cy="252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000">
                <a:solidFill>
                  <a:srgbClr val="333333"/>
                </a:solidFill>
              </a:rPr>
              <a:t>3    Linda Chen            61    Type 2 Diabetes + HTN      7.6%     152/96      2024-09-20    65.8       HIGH            Mandarin</a:t>
            </a:r>
          </a:p>
        </p:txBody>
      </p:sp>
      <p:sp>
        <p:nvSpPr>
          <p:cNvPr id="100057" name="Row4"/>
          <p:cNvSpPr txBox="1"/>
          <p:nvPr/>
        </p:nvSpPr>
        <p:spPr>
          <a:xfrm xmlns:a="http://schemas.openxmlformats.org/drawingml/2006/main">
            <a:off x="540000" y="2484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4    James O'Brien         71    Type 2 Diabetes            10.4%    160/100     2024-06-05    93.5  ⚠  URGENT          English</a:t>
            </a:r>
          </a:p>
        </p:txBody>
      </p:sp>
      <p:sp>
        <p:nvSpPr>
          <p:cNvPr id="100058" name="Row5"/>
          <p:cNvSpPr txBox="1"/>
          <p:nvPr/>
        </p:nvSpPr>
        <p:spPr>
          <a:xfrm xmlns:a="http://schemas.openxmlformats.org/drawingml/2006/main">
            <a:off x="540000" y="2772000"/>
            <a:ext cx="11160000" cy="252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000">
                <a:solidFill>
                  <a:srgbClr val="333333"/>
                </a:solidFill>
              </a:rPr>
              <a:t>5    Aisha Patel           45    Pre-Diabetes               6.3%     122/78      2024-11-10    42.0       MEDIUM          English</a:t>
            </a:r>
          </a:p>
        </p:txBody>
      </p:sp>
      <p:sp>
        <p:nvSpPr>
          <p:cNvPr id="100059" name="Row6"/>
          <p:cNvSpPr txBox="1"/>
          <p:nvPr/>
        </p:nvSpPr>
        <p:spPr>
          <a:xfrm xmlns:a="http://schemas.openxmlformats.org/drawingml/2006/main">
            <a:off x="540000" y="3060000"/>
            <a:ext cx="11160000" cy="252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000">
                <a:solidFill>
                  <a:srgbClr val="333333"/>
                </a:solidFill>
              </a:rPr>
              <a:t>6    Robert Johnson        58    Type 2 Diabetes + CHD      8.8%     145/90      2024-07-18    81.2       HIGH            English</a:t>
            </a:r>
          </a:p>
        </p:txBody>
      </p:sp>
      <p:sp>
        <p:nvSpPr>
          <p:cNvPr id="100060" name="Row7"/>
          <p:cNvSpPr txBox="1"/>
          <p:nvPr/>
        </p:nvSpPr>
        <p:spPr>
          <a:xfrm xmlns:a="http://schemas.openxmlformats.org/drawingml/2006/main">
            <a:off x="540000" y="3348000"/>
            <a:ext cx="11160000" cy="252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000">
                <a:solidFill>
                  <a:srgbClr val="333333"/>
                </a:solidFill>
              </a:rPr>
              <a:t>7    Fatima Al-Hassan      49    Type 2 Diabetes            7.9%     130/82      2024-10-25    58.7       MEDIUM          Arabic</a:t>
            </a:r>
          </a:p>
        </p:txBody>
      </p:sp>
      <p:sp>
        <p:nvSpPr>
          <p:cNvPr id="100061" name="Row8"/>
          <p:cNvSpPr txBox="1"/>
          <p:nvPr/>
        </p:nvSpPr>
        <p:spPr>
          <a:xfrm xmlns:a="http://schemas.openxmlformats.org/drawingml/2006/main">
            <a:off x="540000" y="3636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8    David Kim             63    Type 2 Diabetes + CKD      9.5%     155/95      2024-05-30    89.0  ⚠  URGENT          Korean</a:t>
            </a:r>
          </a:p>
        </p:txBody>
      </p:sp>
      <p:sp>
        <p:nvSpPr>
          <p:cNvPr id="100062" name="Row9"/>
          <p:cNvSpPr txBox="1"/>
          <p:nvPr/>
        </p:nvSpPr>
        <p:spPr>
          <a:xfrm xmlns:a="http://schemas.openxmlformats.org/drawingml/2006/main">
            <a:off x="540000" y="3924000"/>
            <a:ext cx="1116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9    Susan Wallace         52    Type 2 Diabetes            6.9%     125/80      2024-11-05    35.5       LOW             English</a:t>
            </a:r>
          </a:p>
        </p:txBody>
      </p:sp>
      <p:sp>
        <p:nvSpPr>
          <p:cNvPr id="100063" name="Row10"/>
          <p:cNvSpPr txBox="1"/>
          <p:nvPr/>
        </p:nvSpPr>
        <p:spPr>
          <a:xfrm xmlns:a="http://schemas.openxmlformats.org/drawingml/2006/main">
            <a:off x="540000" y="4212000"/>
            <a:ext cx="11160000" cy="252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000">
                <a:solidFill>
                  <a:srgbClr val="333333"/>
                </a:solidFill>
              </a:rPr>
              <a:t>10   Michael Okafor        41    Pre-Diabetes + Obesity     6.1%     128/84      2024-09-14    48.3       MEDIUM          English</a:t>
            </a:r>
          </a:p>
        </p:txBody>
      </p:sp>
      <p:sp>
        <p:nvSpPr>
          <p:cNvPr id="100064" name="FeatureBoxA"/>
          <p:cNvSpPr txBox="1"/>
          <p:nvPr/>
        </p:nvSpPr>
        <p:spPr>
          <a:xfrm xmlns:a="http://schemas.openxmlformats.org/drawingml/2006/main">
            <a:off x="540000" y="4608000"/>
            <a:ext cx="3420000" cy="126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Search &amp; Filter</a:t>
            </a:r>
          </a:p>
          <a:p xmlns:a="http://schemas.openxmlformats.org/drawingml/2006/main">
            <a:r>
              <a:rPr lang="en-US" sz="1200">
                <a:solidFill>
                  <a:srgbClr val="1E3A5F"/>
                </a:solidFill>
              </a:rPr>
              <a:t>Search by name or condition.</a:t>
            </a:r>
          </a:p>
          <a:p xmlns:a="http://schemas.openxmlformats.org/drawingml/2006/main">
            <a:r>
              <a:rPr lang="en-US" sz="1200">
                <a:solidFill>
                  <a:srgbClr val="1E3A5F"/>
                </a:solidFill>
              </a:rPr>
              <a:t>Filter by risk level.</a:t>
            </a:r>
          </a:p>
          <a:p xmlns:a="http://schemas.openxmlformats.org/drawingml/2006/main">
            <a:r>
              <a:rPr lang="en-US" sz="1200">
                <a:solidFill>
                  <a:srgbClr val="1E3A5F"/>
                </a:solidFill>
              </a:rPr>
              <a:t>Instant client-side filtering.</a:t>
            </a:r>
          </a:p>
        </p:txBody>
      </p:sp>
      <p:sp>
        <p:nvSpPr>
          <p:cNvPr id="100065" name="FeatureBoxB"/>
          <p:cNvSpPr txBox="1"/>
          <p:nvPr/>
        </p:nvSpPr>
        <p:spPr>
          <a:xfrm xmlns:a="http://schemas.openxmlformats.org/drawingml/2006/main">
            <a:off x="4320000" y="4608000"/>
            <a:ext cx="3420000" cy="126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1E3A5F"/>
                </a:solidFill>
              </a:rPr>
              <a:t>Colour-coded HbA1c</a:t>
            </a:r>
          </a:p>
          <a:p xmlns:a="http://schemas.openxmlformats.org/drawingml/2006/main">
            <a:r>
              <a:rPr lang="en-US" sz="1200">
                <a:solidFill>
                  <a:srgbClr val="1E3A5F"/>
                </a:solidFill>
              </a:rPr>
              <a:t>Red  =  &gt;= 9.0% (critical)</a:t>
            </a:r>
          </a:p>
          <a:p xmlns:a="http://schemas.openxmlformats.org/drawingml/2006/main">
            <a:r>
              <a:rPr lang="en-US" sz="1200">
                <a:solidFill>
                  <a:srgbClr val="1E3A5F"/>
                </a:solidFill>
              </a:rPr>
              <a:t>Amber  =  &gt;= 7.5% (elevated)</a:t>
            </a:r>
          </a:p>
          <a:p xmlns:a="http://schemas.openxmlformats.org/drawingml/2006/main">
            <a:r>
              <a:rPr lang="en-US" sz="1200">
                <a:solidFill>
                  <a:srgbClr val="1E3A5F"/>
                </a:solidFill>
              </a:rPr>
              <a:t>Green  =  &lt; 7.5% (target range)</a:t>
            </a:r>
          </a:p>
        </p:txBody>
      </p:sp>
      <p:sp>
        <p:nvSpPr>
          <p:cNvPr id="100066" name="FeatureBoxC"/>
          <p:cNvSpPr txBox="1"/>
          <p:nvPr/>
        </p:nvSpPr>
        <p:spPr>
          <a:xfrm xmlns:a="http://schemas.openxmlformats.org/drawingml/2006/main">
            <a:off x="8100000" y="4608000"/>
            <a:ext cx="3420000" cy="126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a:solidFill>
                  <a:srgbClr val="1E3A5F"/>
                </a:solidFill>
              </a:rPr>
              <a:t>Missing Data Flag  ⚠</a:t>
            </a:r>
          </a:p>
          <a:p xmlns:a="http://schemas.openxmlformats.org/drawingml/2006/main">
            <a:r>
              <a:rPr lang="en-US" sz="1200">
                <a:solidFill>
                  <a:srgbClr val="1E3A5F"/>
                </a:solidFill>
              </a:rPr>
              <a:t>Yellow warning icon shown</a:t>
            </a:r>
          </a:p>
          <a:p xmlns:a="http://schemas.openxmlformats.org/drawingml/2006/main">
            <a:r>
              <a:rPr lang="en-US" sz="1200">
                <a:solidFill>
                  <a:srgbClr val="1E3A5F"/>
                </a:solidFill>
              </a:rPr>
              <a:t>next to patients with missing</a:t>
            </a:r>
          </a:p>
          <a:p xmlns:a="http://schemas.openxmlformats.org/drawingml/2006/main">
            <a:r>
              <a:rPr lang="en-US" sz="1200">
                <a:solidFill>
                  <a:srgbClr val="1E3A5F"/>
                </a:solidFill>
              </a:rPr>
              <a:t>clinical records or overdue tests.</a:t>
            </a:r>
          </a:p>
        </p:txBody>
      </p:sp>
      <p:sp>
        <p:nvSpPr>
          <p:cNvPr id="100067"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8"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69" name="SlideLabel"/>
          <p:cNvSpPr txBox="1"/>
          <p:nvPr/>
        </p:nvSpPr>
        <p:spPr>
          <a:xfrm xmlns:a="http://schemas.openxmlformats.org/drawingml/2006/main">
            <a:off x="180000" y="72000"/>
            <a:ext cx="90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06  |  Screenshot — Patient Detail &amp; AI Explanation</a:t>
            </a:r>
          </a:p>
        </p:txBody>
      </p:sp>
      <p:sp>
        <p:nvSpPr>
          <p:cNvPr id="100070"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600" b="1">
                <a:solidFill>
                  <a:srgbClr val="1E3A5F"/>
                </a:solidFill>
              </a:rPr>
              <a:t>Patient Detail Page  —  /patients/4  (James O'Brien — Urgent)</a:t>
            </a:r>
          </a:p>
        </p:txBody>
      </p:sp>
      <p:sp>
        <p:nvSpPr>
          <p:cNvPr id="100071" name="ActionBar"/>
          <p:cNvSpPr txBox="1"/>
          <p:nvPr/>
        </p:nvSpPr>
        <p:spPr>
          <a:xfrm xmlns:a="http://schemas.openxmlformats.org/drawingml/2006/main">
            <a:off x="540000" y="1044000"/>
            <a:ext cx="10800000" cy="288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100">
                <a:solidFill>
                  <a:srgbClr val="1A56DB"/>
                </a:solidFill>
              </a:rPr>
              <a:t>[← Back to Register]   [🤖 Get AI Explanation]   [📋 Generate Outreach Plan]   [🚨 Escalate Case]   [✅ Submit Review]</a:t>
            </a:r>
          </a:p>
        </p:txBody>
      </p:sp>
      <p:sp>
        <p:nvSpPr>
          <p:cNvPr id="100072" name="PatientCard"/>
          <p:cNvSpPr txBox="1"/>
          <p:nvPr/>
        </p:nvSpPr>
        <p:spPr>
          <a:xfrm xmlns:a="http://schemas.openxmlformats.org/drawingml/2006/main">
            <a:off x="540000" y="1404000"/>
            <a:ext cx="5040000" cy="234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200">
                <a:solidFill>
                  <a:srgbClr val="333333"/>
                </a:solidFill>
              </a:rPr>
              <a:t>Patient Overview</a:t>
            </a:r>
          </a:p>
          <a:p xmlns:a="http://schemas.openxmlformats.org/drawingml/2006/main">
            <a:r>
              <a:rPr lang="en-US" sz="1200">
                <a:solidFill>
                  <a:srgbClr val="333333"/>
                </a:solidFill>
              </a:rPr>
              <a:t/>
            </a:r>
          </a:p>
          <a:p xmlns:a="http://schemas.openxmlformats.org/drawingml/2006/main">
            <a:r>
              <a:rPr lang="en-US" sz="1200">
                <a:solidFill>
                  <a:srgbClr val="333333"/>
                </a:solidFill>
              </a:rPr>
              <a:t>Full Name:    James O'Brien</a:t>
            </a:r>
          </a:p>
          <a:p xmlns:a="http://schemas.openxmlformats.org/drawingml/2006/main">
            <a:r>
              <a:rPr lang="en-US" sz="1200">
                <a:solidFill>
                  <a:srgbClr val="333333"/>
                </a:solidFill>
              </a:rPr>
              <a:t>Age / Gender: 71 / Male</a:t>
            </a:r>
          </a:p>
          <a:p xmlns:a="http://schemas.openxmlformats.org/drawingml/2006/main">
            <a:r>
              <a:rPr lang="en-US" sz="1200">
                <a:solidFill>
                  <a:srgbClr val="333333"/>
                </a:solidFill>
              </a:rPr>
              <a:t>Condition:    Type 2 Diabetes</a:t>
            </a:r>
          </a:p>
          <a:p xmlns:a="http://schemas.openxmlformats.org/drawingml/2006/main">
            <a:r>
              <a:rPr lang="en-US" sz="1200">
                <a:solidFill>
                  <a:srgbClr val="333333"/>
                </a:solidFill>
              </a:rPr>
              <a:t>HbA1c:        10.4%  (Target: &lt;7.0%)</a:t>
            </a:r>
          </a:p>
          <a:p xmlns:a="http://schemas.openxmlformats.org/drawingml/2006/main">
            <a:r>
              <a:rPr lang="en-US" sz="1200">
                <a:solidFill>
                  <a:srgbClr val="333333"/>
                </a:solidFill>
              </a:rPr>
              <a:t>Blood Pressure: 160/100</a:t>
            </a:r>
          </a:p>
          <a:p xmlns:a="http://schemas.openxmlformats.org/drawingml/2006/main">
            <a:r>
              <a:rPr lang="en-US" sz="1200">
                <a:solidFill>
                  <a:srgbClr val="333333"/>
                </a:solidFill>
              </a:rPr>
              <a:t>Last Visit:   2024-06-05</a:t>
            </a:r>
          </a:p>
          <a:p xmlns:a="http://schemas.openxmlformats.org/drawingml/2006/main">
            <a:r>
              <a:rPr lang="en-US" sz="1200">
                <a:solidFill>
                  <a:srgbClr val="333333"/>
                </a:solidFill>
              </a:rPr>
              <a:t>Insurance:    Medicare</a:t>
            </a:r>
          </a:p>
          <a:p xmlns:a="http://schemas.openxmlformats.org/drawingml/2006/main">
            <a:r>
              <a:rPr lang="en-US" sz="1200">
                <a:solidFill>
                  <a:srgbClr val="333333"/>
                </a:solidFill>
              </a:rPr>
              <a:t>Language:     English</a:t>
            </a:r>
          </a:p>
        </p:txBody>
      </p:sp>
      <p:sp>
        <p:nvSpPr>
          <p:cNvPr id="100073" name="RiskCard"/>
          <p:cNvSpPr txBox="1"/>
          <p:nvPr/>
        </p:nvSpPr>
        <p:spPr>
          <a:xfrm xmlns:a="http://schemas.openxmlformats.org/drawingml/2006/main">
            <a:off x="5940000" y="1404000"/>
            <a:ext cx="5400000" cy="2340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200">
                <a:solidFill>
                  <a:srgbClr val="C81E1E"/>
                </a:solidFill>
              </a:rPr>
              <a:t>Risk Assessment</a:t>
            </a:r>
          </a:p>
          <a:p xmlns:a="http://schemas.openxmlformats.org/drawingml/2006/main">
            <a:r>
              <a:rPr lang="en-US" sz="1200">
                <a:solidFill>
                  <a:srgbClr val="C81E1E"/>
                </a:solidFill>
              </a:rPr>
              <a:t/>
            </a:r>
          </a:p>
          <a:p xmlns:a="http://schemas.openxmlformats.org/drawingml/2006/main">
            <a:r>
              <a:rPr lang="en-US" sz="1200">
                <a:solidFill>
                  <a:srgbClr val="C81E1E"/>
                </a:solidFill>
              </a:rPr>
              <a:t>AI Risk Score:    93.5 / 100</a:t>
            </a:r>
          </a:p>
          <a:p xmlns:a="http://schemas.openxmlformats.org/drawingml/2006/main">
            <a:r>
              <a:rPr lang="en-US" sz="1200">
                <a:solidFill>
                  <a:srgbClr val="C81E1E"/>
                </a:solidFill>
              </a:rPr>
              <a:t>AI Level:         URGENT</a:t>
            </a:r>
          </a:p>
          <a:p xmlns:a="http://schemas.openxmlformats.org/drawingml/2006/main">
            <a:r>
              <a:rPr lang="en-US" sz="1200">
                <a:solidFill>
                  <a:srgbClr val="C81E1E"/>
                </a:solidFill>
              </a:rPr>
              <a:t>Reviewed Level:   URGENT</a:t>
            </a:r>
          </a:p>
          <a:p xmlns:a="http://schemas.openxmlformats.org/drawingml/2006/main">
            <a:r>
              <a:rPr lang="en-US" sz="1200">
                <a:solidFill>
                  <a:srgbClr val="C81E1E"/>
                </a:solidFill>
              </a:rPr>
              <a:t/>
            </a:r>
          </a:p>
          <a:p xmlns:a="http://schemas.openxmlformats.org/drawingml/2006/main">
            <a:r>
              <a:rPr lang="en-US" sz="1200">
                <a:solidFill>
                  <a:srgbClr val="C81E1E"/>
                </a:solidFill>
              </a:rPr>
              <a:t>Agent Findings:</a:t>
            </a:r>
          </a:p>
          <a:p xmlns:a="http://schemas.openxmlformats.org/drawingml/2006/main">
            <a:r>
              <a:rPr lang="en-US" sz="1200">
                <a:solidFill>
                  <a:srgbClr val="C81E1E"/>
                </a:solidFill>
              </a:rPr>
              <a:t>⚠ HbA1c 10.4% — critically elevated</a:t>
            </a:r>
          </a:p>
          <a:p xmlns:a="http://schemas.openxmlformats.org/drawingml/2006/main">
            <a:r>
              <a:rPr lang="en-US" sz="1200">
                <a:solidFill>
                  <a:srgbClr val="C81E1E"/>
                </a:solidFill>
              </a:rPr>
              <a:t>⚠ 2 missing data items reduce confidence</a:t>
            </a:r>
          </a:p>
          <a:p xmlns:a="http://schemas.openxmlformats.org/drawingml/2006/main">
            <a:r>
              <a:rPr lang="en-US" sz="1200">
                <a:solidFill>
                  <a:srgbClr val="C81E1E"/>
                </a:solidFill>
              </a:rPr>
              <a:t>⚠ Co-morbidity not fully weighted</a:t>
            </a:r>
          </a:p>
          <a:p xmlns:a="http://schemas.openxmlformats.org/drawingml/2006/main">
            <a:r>
              <a:rPr lang="en-US" sz="1200">
                <a:solidFill>
                  <a:srgbClr val="C81E1E"/>
                </a:solidFill>
              </a:rPr>
              <a:t/>
            </a:r>
          </a:p>
          <a:p xmlns:a="http://schemas.openxmlformats.org/drawingml/2006/main">
            <a:r>
              <a:rPr lang="en-US" sz="1200">
                <a:solidFill>
                  <a:srgbClr val="C81E1E"/>
                </a:solidFill>
              </a:rPr>
              <a:t>! Risk level consistent with evidence</a:t>
            </a:r>
          </a:p>
        </p:txBody>
      </p:sp>
      <p:sp>
        <p:nvSpPr>
          <p:cNvPr id="100074" name="MissingData"/>
          <p:cNvSpPr txBox="1"/>
          <p:nvPr/>
        </p:nvSpPr>
        <p:spPr>
          <a:xfrm xmlns:a="http://schemas.openxmlformats.org/drawingml/2006/main">
            <a:off x="540000" y="3816000"/>
            <a:ext cx="10800000" cy="540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200">
                <a:solidFill>
                  <a:srgbClr val="7C6B00"/>
                </a:solidFill>
              </a:rPr>
              <a:t>⚠  Missing / Overdue Information (2 items):</a:t>
            </a:r>
          </a:p>
          <a:p xmlns:a="http://schemas.openxmlformats.org/drawingml/2006/main">
            <a:r>
              <a:rPr lang="en-US" sz="1200">
                <a:solidFill>
                  <a:srgbClr val="7C6B00"/>
                </a:solidFill>
              </a:rPr>
              <a:t>•  Nephrology referral not completed</a:t>
            </a:r>
          </a:p>
          <a:p xmlns:a="http://schemas.openxmlformats.org/drawingml/2006/main">
            <a:r>
              <a:rPr lang="en-US" sz="1200">
                <a:solidFill>
                  <a:srgbClr val="7C6B00"/>
                </a:solidFill>
              </a:rPr>
              <a:t>•  No emergency contact on file</a:t>
            </a:r>
          </a:p>
        </p:txBody>
      </p:sp>
      <p:sp>
        <p:nvSpPr>
          <p:cNvPr id="100075" name="AIPanel"/>
          <p:cNvSpPr txBox="1"/>
          <p:nvPr/>
        </p:nvSpPr>
        <p:spPr>
          <a:xfrm xmlns:a="http://schemas.openxmlformats.org/drawingml/2006/main">
            <a:off x="540000" y="4428000"/>
            <a:ext cx="10800000" cy="16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100">
                <a:solidFill>
                  <a:srgbClr val="1E40AF"/>
                </a:solidFill>
              </a:rPr>
              <a:t>🤖  IBM Granite AI-Assisted Outreach Explanation</a:t>
            </a:r>
          </a:p>
          <a:p xmlns:a="http://schemas.openxmlformats.org/drawingml/2006/main">
            <a:r>
              <a:rPr lang="en-US" sz="1100">
                <a:solidFill>
                  <a:srgbClr val="1E40AF"/>
                </a:solidFill>
              </a:rPr>
              <a:t/>
            </a:r>
          </a:p>
          <a:p xmlns:a="http://schemas.openxmlformats.org/drawingml/2006/main">
            <a:r>
              <a:rPr lang="en-US" sz="1100">
                <a:solidFill>
                  <a:srgbClr val="1E40AF"/>
                </a:solidFill>
              </a:rPr>
              <a:t>AI-Assisted Outreach Explanation for James O'Brien</a:t>
            </a:r>
          </a:p>
          <a:p xmlns:a="http://schemas.openxmlformats.org/drawingml/2006/main">
            <a:r>
              <a:rPr lang="en-US" sz="1100">
                <a:solidFill>
                  <a:srgbClr val="1E40AF"/>
                </a:solidFill>
              </a:rPr>
              <a:t/>
            </a:r>
          </a:p>
          <a:p xmlns:a="http://schemas.openxmlformats.org/drawingml/2006/main">
            <a:r>
              <a:rPr lang="en-US" sz="1100">
                <a:solidFill>
                  <a:srgbClr val="1E40AF"/>
                </a:solidFill>
              </a:rPr>
              <a:t>Patient Overview: James O'Brien, aged 71, is being managed for Type 2 Diabetes.</a:t>
            </a:r>
          </a:p>
          <a:p xmlns:a="http://schemas.openxmlformats.org/drawingml/2006/main">
            <a:r>
              <a:rPr lang="en-US" sz="1100">
                <a:solidFill>
                  <a:srgbClr val="1E40AF"/>
                </a:solidFill>
              </a:rPr>
              <a:t>Glyaemic Control: HbA1c is 10.4% — significantly above the 7.0% target. This level indicates</a:t>
            </a:r>
          </a:p>
          <a:p xmlns:a="http://schemas.openxmlformats.org/drawingml/2006/main">
            <a:r>
              <a:rPr lang="en-US" sz="1100">
                <a:solidFill>
                  <a:srgbClr val="1E40AF"/>
                </a:solidFill>
              </a:rPr>
              <a:t>poor blood sugar control and substantially increases the risk of complications.</a:t>
            </a:r>
          </a:p>
          <a:p xmlns:a="http://schemas.openxmlformats.org/drawingml/2006/main">
            <a:r>
              <a:rPr lang="en-US" sz="1100">
                <a:solidFill>
                  <a:srgbClr val="1E40AF"/>
                </a:solidFill>
              </a:rPr>
              <a:t>AI Risk Assessment: Score 93.5/100 — URGENT. The care team should prioritise outreach</a:t>
            </a:r>
          </a:p>
          <a:p xmlns:a="http://schemas.openxmlformats.org/drawingml/2006/main">
            <a:r>
              <a:rPr lang="en-US" sz="1100">
                <a:solidFill>
                  <a:srgbClr val="1E40AF"/>
                </a:solidFill>
              </a:rPr>
              <a:t>and ensure clinical review occurs immediately.</a:t>
            </a:r>
          </a:p>
          <a:p xmlns:a="http://schemas.openxmlformats.org/drawingml/2006/main">
            <a:r>
              <a:rPr lang="en-US" sz="1100">
                <a:solidFill>
                  <a:srgbClr val="1E40AF"/>
                </a:solidFill>
              </a:rPr>
              <a:t>Information Gaps: Nephrology referral not completed. No emergency contact on file.</a:t>
            </a:r>
          </a:p>
          <a:p xmlns:a="http://schemas.openxmlformats.org/drawingml/2006/main">
            <a:r>
              <a:rPr lang="en-US" sz="1100">
                <a:solidFill>
                  <a:srgbClr val="1E40AF"/>
                </a:solidFill>
              </a:rPr>
              <a:t/>
            </a:r>
          </a:p>
          <a:p xmlns:a="http://schemas.openxmlformats.org/drawingml/2006/main">
            <a:r>
              <a:rPr lang="en-US" sz="1100">
                <a:solidFill>
                  <a:srgbClr val="1E40AF"/>
                </a:solidFill>
              </a:rPr>
              <a:t>⚠  This explanation must be reviewed by a qualified healthcare professional before action.</a:t>
            </a:r>
          </a:p>
        </p:txBody>
      </p:sp>
      <p:sp>
        <p:nvSpPr>
          <p:cNvPr id="100076"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78"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07  |  Screenshot — Outreach Plans</a:t>
            </a:r>
          </a:p>
        </p:txBody>
      </p:sp>
      <p:sp>
        <p:nvSpPr>
          <p:cNvPr id="100079"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Outreach Plans  —  /outreach</a:t>
            </a:r>
          </a:p>
        </p:txBody>
      </p:sp>
      <p:sp>
        <p:nvSpPr>
          <p:cNvPr id="100080" name="BrowserBar"/>
          <p:cNvSpPr txBox="1"/>
          <p:nvPr/>
        </p:nvSpPr>
        <p:spPr>
          <a:xfrm xmlns:a="http://schemas.openxmlformats.org/drawingml/2006/main">
            <a:off x="540000" y="1044000"/>
            <a:ext cx="10800000" cy="252000"/>
          </a:xfrm>
          <a:prstGeom xmlns:a="http://schemas.openxmlformats.org/drawingml/2006/main" prst="rect">
            <a:avLst/>
          </a:prstGeom>
          <a:solidFill xmlns:a="http://schemas.openxmlformats.org/drawingml/2006/main">
            <a:srgbClr val="F3F4F6"/>
          </a:solidFill>
        </p:spPr>
        <p:txBody>
          <a:bodyPr xmlns:a="http://schemas.openxmlformats.org/drawingml/2006/main"/>
          <a:lstStyle xmlns:a="http://schemas.openxmlformats.org/drawingml/2006/main"/>
          <a:p xmlns:a="http://schemas.openxmlformats.org/drawingml/2006/main">
            <a:r>
              <a:rPr lang="en-US" sz="1100">
                <a:solidFill>
                  <a:srgbClr val="555555"/>
                </a:solidFill>
              </a:rPr>
              <a:t>  http://127.0.0.1:8000/outreach</a:t>
            </a:r>
          </a:p>
        </p:txBody>
      </p:sp>
      <p:sp>
        <p:nvSpPr>
          <p:cNvPr id="100081" name="TableHeader"/>
          <p:cNvSpPr txBox="1"/>
          <p:nvPr/>
        </p:nvSpPr>
        <p:spPr>
          <a:xfrm xmlns:a="http://schemas.openxmlformats.org/drawingml/2006/main">
            <a:off x="540000" y="1368000"/>
            <a:ext cx="11160000" cy="216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000" b="1">
                <a:solidFill>
                  <a:srgbClr val="6B7280"/>
                </a:solidFill>
              </a:rPr>
              <a:t>Patient             Method        Next Step                                   Role                   Follow-up    Status        AI Rationale</a:t>
            </a:r>
          </a:p>
        </p:txBody>
      </p:sp>
      <p:sp>
        <p:nvSpPr>
          <p:cNvPr id="100082" name="R1"/>
          <p:cNvSpPr txBox="1"/>
          <p:nvPr/>
        </p:nvSpPr>
        <p:spPr>
          <a:xfrm xmlns:a="http://schemas.openxmlformats.org/drawingml/2006/main">
            <a:off x="540000" y="1620000"/>
            <a:ext cx="11160000" cy="252000"/>
          </a:xfrm>
          <a:prstGeom xmlns:a="http://schemas.openxmlformats.org/drawingml/2006/main" prst="rect">
            <a:avLst/>
          </a:prstGeom>
          <a:solidFill xmlns:a="http://schemas.openxmlformats.org/drawingml/2006/main">
            <a:srgbClr val="E1EFFE"/>
          </a:solidFill>
        </p:spPr>
        <p:txBody>
          <a:bodyPr xmlns:a="http://schemas.openxmlformats.org/drawingml/2006/main"/>
          <a:lstStyle xmlns:a="http://schemas.openxmlformats.org/drawingml/2006/main"/>
          <a:p xmlns:a="http://schemas.openxmlformats.org/drawingml/2006/main">
            <a:r>
              <a:rPr lang="en-US" sz="1000">
                <a:solidFill>
                  <a:srgbClr val="333333"/>
                </a:solidFill>
              </a:rPr>
              <a:t>Margaret Thompson   Phone         Schedule urgent diabetes review             Care Coordinator       2025-01-10   PENDING       HbA1c 9.2% with missed checks...</a:t>
            </a:r>
          </a:p>
        </p:txBody>
      </p:sp>
      <p:sp>
        <p:nvSpPr>
          <p:cNvPr id="100083" name="R2"/>
          <p:cNvSpPr txBox="1"/>
          <p:nvPr/>
        </p:nvSpPr>
        <p:spPr>
          <a:xfrm xmlns:a="http://schemas.openxmlformats.org/drawingml/2006/main">
            <a:off x="540000" y="1908000"/>
            <a:ext cx="1116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Carlos Rivera       SMS           Arrange Spanish navigator; book interpr.   Community HW           2025-01-12   CONTACTED     Language and transport barriers...</a:t>
            </a:r>
          </a:p>
        </p:txBody>
      </p:sp>
      <p:sp>
        <p:nvSpPr>
          <p:cNvPr id="100084" name="R3"/>
          <p:cNvSpPr txBox="1"/>
          <p:nvPr/>
        </p:nvSpPr>
        <p:spPr>
          <a:xfrm xmlns:a="http://schemas.openxmlformats.org/drawingml/2006/main">
            <a:off x="540000" y="2196000"/>
            <a:ext cx="11160000" cy="252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000">
                <a:solidFill>
                  <a:srgbClr val="333333"/>
                </a:solidFill>
              </a:rPr>
              <a:t>Linda Chen          Phone         Review BP management; bilingual NP          Nurse Practitioner      2025-01-15   SCHEDULED     Hypertension with inadequate log...</a:t>
            </a:r>
          </a:p>
        </p:txBody>
      </p:sp>
      <p:sp>
        <p:nvSpPr>
          <p:cNvPr id="100085" name="R4"/>
          <p:cNvSpPr txBox="1"/>
          <p:nvPr/>
        </p:nvSpPr>
        <p:spPr>
          <a:xfrm xmlns:a="http://schemas.openxmlformats.org/drawingml/2006/main">
            <a:off x="540000" y="2484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James O'Brien       Home Visit    Immediate home visit; nephrology referral  Social Worker + GP     2025-01-08   ESCALATED     HbA1c 10.4%, lives alone...</a:t>
            </a:r>
          </a:p>
        </p:txBody>
      </p:sp>
      <p:sp>
        <p:nvSpPr>
          <p:cNvPr id="100086" name="R5"/>
          <p:cNvSpPr txBox="1"/>
          <p:nvPr/>
        </p:nvSpPr>
        <p:spPr>
          <a:xfrm xmlns:a="http://schemas.openxmlformats.org/drawingml/2006/main">
            <a:off x="540000" y="2772000"/>
            <a:ext cx="11160000" cy="252000"/>
          </a:xfrm>
          <a:prstGeom xmlns:a="http://schemas.openxmlformats.org/drawingml/2006/main" prst="rect">
            <a:avLst/>
          </a:prstGeom>
          <a:solidFill xmlns:a="http://schemas.openxmlformats.org/drawingml/2006/main">
            <a:srgbClr val="E1EFFE"/>
          </a:solidFill>
        </p:spPr>
        <p:txBody>
          <a:bodyPr xmlns:a="http://schemas.openxmlformats.org/drawingml/2006/main"/>
          <a:lstStyle xmlns:a="http://schemas.openxmlformats.org/drawingml/2006/main"/>
          <a:p xmlns:a="http://schemas.openxmlformats.org/drawingml/2006/main">
            <a:r>
              <a:rPr lang="en-US" sz="1000">
                <a:solidFill>
                  <a:srgbClr val="333333"/>
                </a:solidFill>
              </a:rPr>
              <a:t>Aisha Patel         Email         Send diabetes prevention info               Practice Nurse         2025-02-01   PENDING       Pre-diabetic stable markers...</a:t>
            </a:r>
          </a:p>
        </p:txBody>
      </p:sp>
      <p:sp>
        <p:nvSpPr>
          <p:cNvPr id="100087" name="R6"/>
          <p:cNvSpPr txBox="1"/>
          <p:nvPr/>
        </p:nvSpPr>
        <p:spPr>
          <a:xfrm xmlns:a="http://schemas.openxmlformats.org/drawingml/2006/main">
            <a:off x="540000" y="3060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Robert Johnson      Phone         Confirm cardiology follow-up; pharmacist    Care Coordinator       2025-01-20   NO ANSWER     Cardiology pending and medic...</a:t>
            </a:r>
          </a:p>
        </p:txBody>
      </p:sp>
      <p:sp>
        <p:nvSpPr>
          <p:cNvPr id="100088" name="R7"/>
          <p:cNvSpPr txBox="1"/>
          <p:nvPr/>
        </p:nvSpPr>
        <p:spPr>
          <a:xfrm xmlns:a="http://schemas.openxmlformats.org/drawingml/2006/main">
            <a:off x="540000" y="3348000"/>
            <a:ext cx="11160000" cy="252000"/>
          </a:xfrm>
          <a:prstGeom xmlns:a="http://schemas.openxmlformats.org/drawingml/2006/main" prst="rect">
            <a:avLst/>
          </a:prstGeom>
          <a:solidFill xmlns:a="http://schemas.openxmlformats.org/drawingml/2006/main">
            <a:srgbClr val="E1EFFE"/>
          </a:solidFill>
        </p:spPr>
        <p:txBody>
          <a:bodyPr xmlns:a="http://schemas.openxmlformats.org/drawingml/2006/main"/>
          <a:lstStyle xmlns:a="http://schemas.openxmlformats.org/drawingml/2006/main"/>
          <a:p xmlns:a="http://schemas.openxmlformats.org/drawingml/2006/main">
            <a:r>
              <a:rPr lang="en-US" sz="1000">
                <a:solidFill>
                  <a:srgbClr val="333333"/>
                </a:solidFill>
              </a:rPr>
              <a:t>Fatima Al-Hassan    Phone         Assign Arabic navigator; review prefs       Community HW           2025-01-18   PENDING       Language barrier and cultural...</a:t>
            </a:r>
          </a:p>
        </p:txBody>
      </p:sp>
      <p:sp>
        <p:nvSpPr>
          <p:cNvPr id="100089" name="R8"/>
          <p:cNvSpPr txBox="1"/>
          <p:nvPr/>
        </p:nvSpPr>
        <p:spPr>
          <a:xfrm xmlns:a="http://schemas.openxmlformats.org/drawingml/2006/main">
            <a:off x="540000" y="3636000"/>
            <a:ext cx="1116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David Kim           Home Visit    Accessible transport; renal diet; HL supp  District Nurse+Diet    2025-01-09   ESCALATED     CKD with uncontrolled diabetes...</a:t>
            </a:r>
          </a:p>
        </p:txBody>
      </p:sp>
      <p:sp>
        <p:nvSpPr>
          <p:cNvPr id="100090" name="R9"/>
          <p:cNvSpPr txBox="1"/>
          <p:nvPr/>
        </p:nvSpPr>
        <p:spPr>
          <a:xfrm xmlns:a="http://schemas.openxmlformats.org/drawingml/2006/main">
            <a:off x="540000" y="3924000"/>
            <a:ext cx="1116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Susan Wallace       Email         Routine annual review reminder               Practice Nurse         2025-03-01   COMPLETED     Stable markers well-managed...</a:t>
            </a:r>
          </a:p>
        </p:txBody>
      </p:sp>
      <p:sp>
        <p:nvSpPr>
          <p:cNvPr id="100091" name="R10"/>
          <p:cNvSpPr txBox="1"/>
          <p:nvPr/>
        </p:nvSpPr>
        <p:spPr>
          <a:xfrm xmlns:a="http://schemas.openxmlformats.org/drawingml/2006/main">
            <a:off x="540000" y="4212000"/>
            <a:ext cx="11160000" cy="252000"/>
          </a:xfrm>
          <a:prstGeom xmlns:a="http://schemas.openxmlformats.org/drawingml/2006/main" prst="rect">
            <a:avLst/>
          </a:prstGeom>
          <a:solidFill xmlns:a="http://schemas.openxmlformats.org/drawingml/2006/main">
            <a:srgbClr val="E1EFFE"/>
          </a:solidFill>
        </p:spPr>
        <p:txBody>
          <a:bodyPr xmlns:a="http://schemas.openxmlformats.org/drawingml/2006/main"/>
          <a:lstStyle xmlns:a="http://schemas.openxmlformats.org/drawingml/2006/main"/>
          <a:p xmlns:a="http://schemas.openxmlformats.org/drawingml/2006/main">
            <a:r>
              <a:rPr lang="en-US" sz="1000">
                <a:solidFill>
                  <a:srgbClr val="333333"/>
                </a:solidFill>
              </a:rPr>
              <a:t>Michael Okafor      SMS           Lifestyle intervention; medication assist    Care Coordinator       2025-01-25   PENDING       Pre-diabetes with obesity...</a:t>
            </a:r>
          </a:p>
        </p:txBody>
      </p:sp>
      <p:sp>
        <p:nvSpPr>
          <p:cNvPr id="100092" name="FeatureA"/>
          <p:cNvSpPr txBox="1"/>
          <p:nvPr/>
        </p:nvSpPr>
        <p:spPr>
          <a:xfrm xmlns:a="http://schemas.openxmlformats.org/drawingml/2006/main">
            <a:off x="540000" y="4608000"/>
            <a:ext cx="3420000" cy="144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One-Click Status Updates</a:t>
            </a:r>
          </a:p>
          <a:p xmlns:a="http://schemas.openxmlformats.org/drawingml/2006/main">
            <a:r>
              <a:rPr lang="en-US" sz="1200">
                <a:solidFill>
                  <a:srgbClr val="1E3A5F"/>
                </a:solidFill>
              </a:rPr>
              <a:t>Buttons on each row allow updating</a:t>
            </a:r>
          </a:p>
          <a:p xmlns:a="http://schemas.openxmlformats.org/drawingml/2006/main">
            <a:r>
              <a:rPr lang="en-US" sz="1200">
                <a:solidFill>
                  <a:srgbClr val="1E3A5F"/>
                </a:solidFill>
              </a:rPr>
              <a:t>status directly: Contacted, Scheduled,</a:t>
            </a:r>
          </a:p>
          <a:p xmlns:a="http://schemas.openxmlformats.org/drawingml/2006/main">
            <a:r>
              <a:rPr lang="en-US" sz="1200">
                <a:solidFill>
                  <a:srgbClr val="1E3A5F"/>
                </a:solidFill>
              </a:rPr>
              <a:t>Completed, No Answer — no page reload.</a:t>
            </a:r>
          </a:p>
        </p:txBody>
      </p:sp>
      <p:sp>
        <p:nvSpPr>
          <p:cNvPr id="100093" name="FeatureB"/>
          <p:cNvSpPr txBox="1"/>
          <p:nvPr/>
        </p:nvSpPr>
        <p:spPr>
          <a:xfrm xmlns:a="http://schemas.openxmlformats.org/drawingml/2006/main">
            <a:off x="4320000" y="4608000"/>
            <a:ext cx="3420000" cy="144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1E3A5F"/>
                </a:solidFill>
              </a:rPr>
              <a:t>Filter by Status / Method</a:t>
            </a:r>
          </a:p>
          <a:p xmlns:a="http://schemas.openxmlformats.org/drawingml/2006/main">
            <a:r>
              <a:rPr lang="en-US" sz="1200">
                <a:solidFill>
                  <a:srgbClr val="1E3A5F"/>
                </a:solidFill>
              </a:rPr>
              <a:t>Dropdown filters let coordinators</a:t>
            </a:r>
          </a:p>
          <a:p xmlns:a="http://schemas.openxmlformats.org/drawingml/2006/main">
            <a:r>
              <a:rPr lang="en-US" sz="1200">
                <a:solidFill>
                  <a:srgbClr val="1E3A5F"/>
                </a:solidFill>
              </a:rPr>
              <a:t>view only Pending, Escalated,</a:t>
            </a:r>
          </a:p>
          <a:p xmlns:a="http://schemas.openxmlformats.org/drawingml/2006/main">
            <a:r>
              <a:rPr lang="en-US" sz="1200">
                <a:solidFill>
                  <a:srgbClr val="1E3A5F"/>
                </a:solidFill>
              </a:rPr>
              <a:t>or specific contact methods.</a:t>
            </a:r>
          </a:p>
        </p:txBody>
      </p:sp>
      <p:sp>
        <p:nvSpPr>
          <p:cNvPr id="100094" name="FeatureC"/>
          <p:cNvSpPr txBox="1"/>
          <p:nvPr/>
        </p:nvSpPr>
        <p:spPr>
          <a:xfrm xmlns:a="http://schemas.openxmlformats.org/drawingml/2006/main">
            <a:off x="8100000" y="4608000"/>
            <a:ext cx="3420000" cy="14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a:solidFill>
                  <a:srgbClr val="1E3A5F"/>
                </a:solidFill>
              </a:rPr>
              <a:t>AI Rationale Column</a:t>
            </a:r>
          </a:p>
          <a:p xmlns:a="http://schemas.openxmlformats.org/drawingml/2006/main">
            <a:r>
              <a:rPr lang="en-US" sz="1200">
                <a:solidFill>
                  <a:srgbClr val="1E3A5F"/>
                </a:solidFill>
              </a:rPr>
              <a:t>Truncated IBM Granite rationale</a:t>
            </a:r>
          </a:p>
          <a:p xmlns:a="http://schemas.openxmlformats.org/drawingml/2006/main">
            <a:r>
              <a:rPr lang="en-US" sz="1200">
                <a:solidFill>
                  <a:srgbClr val="1E3A5F"/>
                </a:solidFill>
              </a:rPr>
              <a:t>shown inline — hover for full text.</a:t>
            </a:r>
          </a:p>
          <a:p xmlns:a="http://schemas.openxmlformats.org/drawingml/2006/main">
            <a:r>
              <a:rPr lang="en-US" sz="1200">
                <a:solidFill>
                  <a:srgbClr val="1E3A5F"/>
                </a:solidFill>
              </a:rPr>
              <a:t>Links back to full patient detail.</a:t>
            </a:r>
          </a:p>
        </p:txBody>
      </p:sp>
      <p:sp>
        <p:nvSpPr>
          <p:cNvPr id="100095"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6"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97" name="SlideLabel"/>
          <p:cNvSpPr txBox="1"/>
          <p:nvPr/>
        </p:nvSpPr>
        <p:spPr>
          <a:xfrm xmlns:a="http://schemas.openxmlformats.org/drawingml/2006/main">
            <a:off x="180000" y="72000"/>
            <a:ext cx="90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08  |  Screenshots — Escalations &amp; Human Review</a:t>
            </a:r>
          </a:p>
        </p:txBody>
      </p:sp>
      <p:sp>
        <p:nvSpPr>
          <p:cNvPr id="100098"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Escalation Log  &amp;  Human Review Workflow</a:t>
            </a:r>
          </a:p>
        </p:txBody>
      </p:sp>
      <p:sp>
        <p:nvSpPr>
          <p:cNvPr id="100099" name="EscTitle"/>
          <p:cNvSpPr txBox="1"/>
          <p:nvPr/>
        </p:nvSpPr>
        <p:spPr>
          <a:xfrm xmlns:a="http://schemas.openxmlformats.org/drawingml/2006/main">
            <a:off x="540000" y="1044000"/>
            <a:ext cx="540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300" b="1">
                <a:solidFill>
                  <a:srgbClr val="C81E1E"/>
                </a:solidFill>
              </a:rPr>
              <a:t>Escalations — /escalations</a:t>
            </a:r>
          </a:p>
        </p:txBody>
      </p:sp>
      <p:sp>
        <p:nvSpPr>
          <p:cNvPr id="100100" name="EscAlert"/>
          <p:cNvSpPr txBox="1"/>
          <p:nvPr/>
        </p:nvSpPr>
        <p:spPr>
          <a:xfrm xmlns:a="http://schemas.openxmlformats.org/drawingml/2006/main">
            <a:off x="540000" y="1332000"/>
            <a:ext cx="10800000" cy="43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200">
                <a:solidFill>
                  <a:srgbClr val="C81E1E"/>
                </a:solidFill>
              </a:rPr>
              <a:t>🚨  2 open escalations require immediate attention.</a:t>
            </a:r>
          </a:p>
          <a:p xmlns:a="http://schemas.openxmlformats.org/drawingml/2006/main">
            <a:r>
              <a:rPr lang="en-US" sz="1200">
                <a:solidFill>
                  <a:srgbClr val="C81E1E"/>
                </a:solidFill>
              </a:rPr>
              <a:t>All escalated cases must be reviewed by an authorised healthcare professional.</a:t>
            </a:r>
          </a:p>
        </p:txBody>
      </p:sp>
      <p:sp>
        <p:nvSpPr>
          <p:cNvPr id="100101" name="EscHeader"/>
          <p:cNvSpPr txBox="1"/>
          <p:nvPr/>
        </p:nvSpPr>
        <p:spPr>
          <a:xfrm xmlns:a="http://schemas.openxmlformats.org/drawingml/2006/main">
            <a:off x="540000" y="1836000"/>
            <a:ext cx="10800000" cy="216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000" b="1">
                <a:solidFill>
                  <a:srgbClr val="6B7280"/>
                </a:solidFill>
              </a:rPr>
              <a:t>Patient               Urgency   Reason                                               Assigned To               Date        Action</a:t>
            </a:r>
          </a:p>
        </p:txBody>
      </p:sp>
      <p:sp>
        <p:nvSpPr>
          <p:cNvPr id="100102" name="EscRow1"/>
          <p:cNvSpPr txBox="1"/>
          <p:nvPr/>
        </p:nvSpPr>
        <p:spPr>
          <a:xfrm xmlns:a="http://schemas.openxmlformats.org/drawingml/2006/main">
            <a:off x="540000" y="2088000"/>
            <a:ext cx="10800000" cy="288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James O'Brien         URGENT    HbA1c 10.4%, BP 160/100, lives alone, no contact.   Dr. Sarah Malik (GP)      2024-12-01  [Resolve]</a:t>
            </a:r>
          </a:p>
        </p:txBody>
      </p:sp>
      <p:sp>
        <p:nvSpPr>
          <p:cNvPr id="100103" name="EscRow2"/>
          <p:cNvSpPr txBox="1"/>
          <p:nvPr/>
        </p:nvSpPr>
        <p:spPr>
          <a:xfrm xmlns:a="http://schemas.openxmlformats.org/drawingml/2006/main">
            <a:off x="540000" y="2412000"/>
            <a:ext cx="10800000" cy="288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David Kim             URGENT    CKD + uncontrolled diabetes, no accessible transport. Dr. Raj Patel (Endo)      2024-12-01  [Resolve]</a:t>
            </a:r>
          </a:p>
        </p:txBody>
      </p:sp>
      <p:sp>
        <p:nvSpPr>
          <p:cNvPr id="100104" name="EscRow3Resolved"/>
          <p:cNvSpPr txBox="1"/>
          <p:nvPr/>
        </p:nvSpPr>
        <p:spPr>
          <a:xfrm xmlns:a="http://schemas.openxmlformats.org/drawingml/2006/main">
            <a:off x="540000" y="2736000"/>
            <a:ext cx="10800000" cy="288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Margaret Thompson     ROUTINE   Overdue foot and retinal examinations.               Practice Nurse Lead       2024-11-20  RESOLVED</a:t>
            </a:r>
          </a:p>
        </p:txBody>
      </p:sp>
      <p:sp>
        <p:nvSpPr>
          <p:cNvPr id="100105" name="ReviewTitle"/>
          <p:cNvSpPr txBox="1"/>
          <p:nvPr/>
        </p:nvSpPr>
        <p:spPr>
          <a:xfrm xmlns:a="http://schemas.openxmlformats.org/drawingml/2006/main">
            <a:off x="540000" y="3168000"/>
            <a:ext cx="540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300" b="1">
                <a:solidFill>
                  <a:srgbClr val="065F46"/>
                </a:solidFill>
              </a:rPr>
              <a:t>Human Review Workflow — /reviews</a:t>
            </a:r>
          </a:p>
        </p:txBody>
      </p:sp>
      <p:sp>
        <p:nvSpPr>
          <p:cNvPr id="100106" name="ReviewInfo"/>
          <p:cNvSpPr txBox="1"/>
          <p:nvPr/>
        </p:nvSpPr>
        <p:spPr>
          <a:xfrm xmlns:a="http://schemas.openxmlformats.org/drawingml/2006/main">
            <a:off x="540000" y="3456000"/>
            <a:ext cx="10800000" cy="288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200">
                <a:solidFill>
                  <a:srgbClr val="1E40AF"/>
                </a:solidFill>
              </a:rPr>
              <a:t>Every AI-generated recommendation must be reviewed and approved by an authorised healthcare professional. Full audit trail below.</a:t>
            </a:r>
          </a:p>
        </p:txBody>
      </p:sp>
      <p:sp>
        <p:nvSpPr>
          <p:cNvPr id="100107" name="RevHeader"/>
          <p:cNvSpPr txBox="1"/>
          <p:nvPr/>
        </p:nvSpPr>
        <p:spPr>
          <a:xfrm xmlns:a="http://schemas.openxmlformats.org/drawingml/2006/main">
            <a:off x="540000" y="3816000"/>
            <a:ext cx="10800000" cy="216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000" b="1">
                <a:solidFill>
                  <a:srgbClr val="6B7280"/>
                </a:solidFill>
              </a:rPr>
              <a:t>Patient               Reviewer                     Decision             Comments                        Date</a:t>
            </a:r>
          </a:p>
        </p:txBody>
      </p:sp>
      <p:sp>
        <p:nvSpPr>
          <p:cNvPr id="100108" name="RevRow1"/>
          <p:cNvSpPr txBox="1"/>
          <p:nvPr/>
        </p:nvSpPr>
        <p:spPr>
          <a:xfrm xmlns:a="http://schemas.openxmlformats.org/drawingml/2006/main">
            <a:off x="540000" y="4068000"/>
            <a:ext cx="1080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Margaret Thompson     Dr. Sarah Malik              APPROVED             Urgent transport and review needed   2025-01-05</a:t>
            </a:r>
          </a:p>
        </p:txBody>
      </p:sp>
      <p:sp>
        <p:nvSpPr>
          <p:cNvPr id="100109" name="RevRow2"/>
          <p:cNvSpPr txBox="1"/>
          <p:nvPr/>
        </p:nvSpPr>
        <p:spPr>
          <a:xfrm xmlns:a="http://schemas.openxmlformats.org/drawingml/2006/main">
            <a:off x="540000" y="4356000"/>
            <a:ext cx="1080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James O'Brien         Dr. Sarah Malik              FLAGGED (ESCALATED)  Home assessment needed urgently      2025-01-05</a:t>
            </a:r>
          </a:p>
        </p:txBody>
      </p:sp>
      <p:sp>
        <p:nvSpPr>
          <p:cNvPr id="100110" name="RevRow3"/>
          <p:cNvSpPr txBox="1"/>
          <p:nvPr/>
        </p:nvSpPr>
        <p:spPr>
          <a:xfrm xmlns:a="http://schemas.openxmlformats.org/drawingml/2006/main">
            <a:off x="540000" y="4644000"/>
            <a:ext cx="10800000" cy="252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000">
                <a:solidFill>
                  <a:srgbClr val="333333"/>
                </a:solidFill>
              </a:rPr>
              <a:t>David Kim             Dr. Raj Patel                FLAGGED (ESCALATED)  Renal diet + accessible transport    2025-01-05</a:t>
            </a:r>
          </a:p>
        </p:txBody>
      </p:sp>
      <p:sp>
        <p:nvSpPr>
          <p:cNvPr id="100111" name="RevRow4"/>
          <p:cNvSpPr txBox="1"/>
          <p:nvPr/>
        </p:nvSpPr>
        <p:spPr>
          <a:xfrm xmlns:a="http://schemas.openxmlformats.org/drawingml/2006/main">
            <a:off x="540000" y="4932000"/>
            <a:ext cx="10800000" cy="25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000">
                <a:solidFill>
                  <a:srgbClr val="333333"/>
                </a:solidFill>
              </a:rPr>
              <a:t>Aisha Patel           Nurse Practitioner Jones     APPROVED             Email outreach is appropriate        2025-01-05</a:t>
            </a:r>
          </a:p>
        </p:txBody>
      </p:sp>
      <p:sp>
        <p:nvSpPr>
          <p:cNvPr id="100112" name="BentoA"/>
          <p:cNvSpPr txBox="1"/>
          <p:nvPr/>
        </p:nvSpPr>
        <p:spPr>
          <a:xfrm xmlns:a="http://schemas.openxmlformats.org/drawingml/2006/main">
            <a:off x="540000" y="5328000"/>
            <a:ext cx="3420000" cy="1008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a:solidFill>
                  <a:srgbClr val="1E3A5F"/>
                </a:solidFill>
              </a:rPr>
              <a:t>Resolve Modal</a:t>
            </a:r>
          </a:p>
          <a:p xmlns:a="http://schemas.openxmlformats.org/drawingml/2006/main">
            <a:r>
              <a:rPr lang="en-US" sz="1200">
                <a:solidFill>
                  <a:srgbClr val="1E3A5F"/>
                </a:solidFill>
              </a:rPr>
              <a:t>Document clinical actions</a:t>
            </a:r>
          </a:p>
          <a:p xmlns:a="http://schemas.openxmlformats.org/drawingml/2006/main">
            <a:r>
              <a:rPr lang="en-US" sz="1200">
                <a:solidFill>
                  <a:srgbClr val="1E3A5F"/>
                </a:solidFill>
              </a:rPr>
              <a:t>taken before marking</a:t>
            </a:r>
          </a:p>
          <a:p xmlns:a="http://schemas.openxmlformats.org/drawingml/2006/main">
            <a:r>
              <a:rPr lang="en-US" sz="1200">
                <a:solidFill>
                  <a:srgbClr val="1E3A5F"/>
                </a:solidFill>
              </a:rPr>
              <a:t>escalation as resolved.</a:t>
            </a:r>
          </a:p>
        </p:txBody>
      </p:sp>
      <p:sp>
        <p:nvSpPr>
          <p:cNvPr id="100113" name="BentoB"/>
          <p:cNvSpPr txBox="1"/>
          <p:nvPr/>
        </p:nvSpPr>
        <p:spPr>
          <a:xfrm xmlns:a="http://schemas.openxmlformats.org/drawingml/2006/main">
            <a:off x="4320000" y="5328000"/>
            <a:ext cx="3420000" cy="1008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200">
                <a:solidFill>
                  <a:srgbClr val="1E3A5F"/>
                </a:solidFill>
              </a:rPr>
              <a:t>Review Modal</a:t>
            </a:r>
          </a:p>
          <a:p xmlns:a="http://schemas.openxmlformats.org/drawingml/2006/main">
            <a:r>
              <a:rPr lang="en-US" sz="1200">
                <a:solidFill>
                  <a:srgbClr val="1E3A5F"/>
                </a:solidFill>
              </a:rPr>
              <a:t>Clinician selects: Approved /</a:t>
            </a:r>
          </a:p>
          <a:p xmlns:a="http://schemas.openxmlformats.org/drawingml/2006/main">
            <a:r>
              <a:rPr lang="en-US" sz="1200">
                <a:solidFill>
                  <a:srgbClr val="1E3A5F"/>
                </a:solidFill>
              </a:rPr>
              <a:t>Rejected / Flagged. Adds notes</a:t>
            </a:r>
          </a:p>
          <a:p xmlns:a="http://schemas.openxmlformats.org/drawingml/2006/main">
            <a:r>
              <a:rPr lang="en-US" sz="1200">
                <a:solidFill>
                  <a:srgbClr val="1E3A5F"/>
                </a:solidFill>
              </a:rPr>
              <a:t>and amended plan.</a:t>
            </a:r>
          </a:p>
        </p:txBody>
      </p:sp>
      <p:sp>
        <p:nvSpPr>
          <p:cNvPr id="100114" name="BentoC"/>
          <p:cNvSpPr txBox="1"/>
          <p:nvPr/>
        </p:nvSpPr>
        <p:spPr>
          <a:xfrm xmlns:a="http://schemas.openxmlformats.org/drawingml/2006/main">
            <a:off x="8100000" y="5328000"/>
            <a:ext cx="3420000" cy="1008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Audit Trail</a:t>
            </a:r>
          </a:p>
          <a:p xmlns:a="http://schemas.openxmlformats.org/drawingml/2006/main">
            <a:r>
              <a:rPr lang="en-US" sz="1200">
                <a:solidFill>
                  <a:srgbClr val="1E3A5F"/>
                </a:solidFill>
              </a:rPr>
              <a:t>All decisions permanently</a:t>
            </a:r>
          </a:p>
          <a:p xmlns:a="http://schemas.openxmlformats.org/drawingml/2006/main">
            <a:r>
              <a:rPr lang="en-US" sz="1200">
                <a:solidFill>
                  <a:srgbClr val="1E3A5F"/>
                </a:solidFill>
              </a:rPr>
              <a:t>logged with reviewer name,</a:t>
            </a:r>
          </a:p>
          <a:p xmlns:a="http://schemas.openxmlformats.org/drawingml/2006/main">
            <a:r>
              <a:rPr lang="en-US" sz="1200">
                <a:solidFill>
                  <a:srgbClr val="1E3A5F"/>
                </a:solidFill>
              </a:rPr>
              <a:t>date, and approved plan.</a:t>
            </a:r>
          </a:p>
        </p:txBody>
      </p:sp>
      <p:sp>
        <p:nvSpPr>
          <p:cNvPr id="100115"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6"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17"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09  |  Screenshot — Reports &amp; Analytics</a:t>
            </a:r>
          </a:p>
        </p:txBody>
      </p:sp>
      <p:sp>
        <p:nvSpPr>
          <p:cNvPr id="100118"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Reports &amp; Analytics  —  /reports</a:t>
            </a:r>
          </a:p>
        </p:txBody>
      </p:sp>
      <p:sp>
        <p:nvSpPr>
          <p:cNvPr id="100119" name="StatA"/>
          <p:cNvSpPr txBox="1"/>
          <p:nvPr/>
        </p:nvSpPr>
        <p:spPr>
          <a:xfrm xmlns:a="http://schemas.openxmlformats.org/drawingml/2006/main">
            <a:off x="540000" y="1044000"/>
            <a:ext cx="2520000" cy="90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A56DB"/>
                </a:solidFill>
              </a:rPr>
              <a:t>10</a:t>
            </a:r>
          </a:p>
          <a:p xmlns:a="http://schemas.openxmlformats.org/drawingml/2006/main">
            <a:r>
              <a:rPr lang="en-US" sz="1200">
                <a:solidFill>
                  <a:srgbClr val="1A56DB"/>
                </a:solidFill>
              </a:rPr>
              <a:t>Total Patients</a:t>
            </a:r>
          </a:p>
        </p:txBody>
      </p:sp>
      <p:sp>
        <p:nvSpPr>
          <p:cNvPr id="100120" name="StatB"/>
          <p:cNvSpPr txBox="1"/>
          <p:nvPr/>
        </p:nvSpPr>
        <p:spPr>
          <a:xfrm xmlns:a="http://schemas.openxmlformats.org/drawingml/2006/main">
            <a:off x="3420000" y="1044000"/>
            <a:ext cx="2520000" cy="9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065F46"/>
                </a:solidFill>
              </a:rPr>
              <a:t>10</a:t>
            </a:r>
          </a:p>
          <a:p xmlns:a="http://schemas.openxmlformats.org/drawingml/2006/main">
            <a:r>
              <a:rPr lang="en-US" sz="1200">
                <a:solidFill>
                  <a:srgbClr val="065F46"/>
                </a:solidFill>
              </a:rPr>
              <a:t>Outreach Plans</a:t>
            </a:r>
          </a:p>
        </p:txBody>
      </p:sp>
      <p:sp>
        <p:nvSpPr>
          <p:cNvPr id="100121" name="StatC"/>
          <p:cNvSpPr txBox="1"/>
          <p:nvPr/>
        </p:nvSpPr>
        <p:spPr>
          <a:xfrm xmlns:a="http://schemas.openxmlformats.org/drawingml/2006/main">
            <a:off x="6300000" y="1044000"/>
            <a:ext cx="2520000" cy="900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200">
                <a:solidFill>
                  <a:srgbClr val="C05621"/>
                </a:solidFill>
              </a:rPr>
              <a:t>13</a:t>
            </a:r>
          </a:p>
          <a:p xmlns:a="http://schemas.openxmlformats.org/drawingml/2006/main">
            <a:r>
              <a:rPr lang="en-US" sz="1200">
                <a:solidFill>
                  <a:srgbClr val="C05621"/>
                </a:solidFill>
              </a:rPr>
              <a:t>Care Barriers</a:t>
            </a:r>
          </a:p>
        </p:txBody>
      </p:sp>
      <p:sp>
        <p:nvSpPr>
          <p:cNvPr id="100122" name="StatD"/>
          <p:cNvSpPr txBox="1"/>
          <p:nvPr/>
        </p:nvSpPr>
        <p:spPr>
          <a:xfrm xmlns:a="http://schemas.openxmlformats.org/drawingml/2006/main">
            <a:off x="9180000" y="1044000"/>
            <a:ext cx="2520000" cy="90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200">
                <a:solidFill>
                  <a:srgbClr val="065F46"/>
                </a:solidFill>
              </a:rPr>
              <a:t>1</a:t>
            </a:r>
          </a:p>
          <a:p xmlns:a="http://schemas.openxmlformats.org/drawingml/2006/main">
            <a:r>
              <a:rPr lang="en-US" sz="1200">
                <a:solidFill>
                  <a:srgbClr val="065F46"/>
                </a:solidFill>
              </a:rPr>
              <a:t>Completed</a:t>
            </a:r>
          </a:p>
        </p:txBody>
      </p:sp>
      <p:sp>
        <p:nvSpPr>
          <p:cNvPr id="100123" name="RiskDistCard"/>
          <p:cNvSpPr txBox="1"/>
          <p:nvPr/>
        </p:nvSpPr>
        <p:spPr>
          <a:xfrm xmlns:a="http://schemas.openxmlformats.org/drawingml/2006/main">
            <a:off x="540000" y="2052000"/>
            <a:ext cx="5220000" cy="180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200">
                <a:solidFill>
                  <a:srgbClr val="333333"/>
                </a:solidFill>
              </a:rPr>
              <a:t>Risk Distribution (Reviewed)</a:t>
            </a:r>
          </a:p>
          <a:p xmlns:a="http://schemas.openxmlformats.org/drawingml/2006/main">
            <a:r>
              <a:rPr lang="en-US" sz="1200">
                <a:solidFill>
                  <a:srgbClr val="333333"/>
                </a:solidFill>
              </a:rPr>
              <a:t/>
            </a:r>
          </a:p>
          <a:p xmlns:a="http://schemas.openxmlformats.org/drawingml/2006/main">
            <a:r>
              <a:rPr lang="en-US" sz="1200">
                <a:solidFill>
                  <a:srgbClr val="333333"/>
                </a:solidFill>
              </a:rPr>
              <a:t>Urgent    ███████████████   3 (30%)</a:t>
            </a:r>
          </a:p>
          <a:p xmlns:a="http://schemas.openxmlformats.org/drawingml/2006/main">
            <a:r>
              <a:rPr lang="en-US" sz="1200">
                <a:solidFill>
                  <a:srgbClr val="333333"/>
                </a:solidFill>
              </a:rPr>
              <a:t>High      ███████████████   3 (30%)</a:t>
            </a:r>
          </a:p>
          <a:p xmlns:a="http://schemas.openxmlformats.org/drawingml/2006/main">
            <a:r>
              <a:rPr lang="en-US" sz="1200">
                <a:solidFill>
                  <a:srgbClr val="333333"/>
                </a:solidFill>
              </a:rPr>
              <a:t>Medium   ███████████████   3 (30%)</a:t>
            </a:r>
          </a:p>
          <a:p xmlns:a="http://schemas.openxmlformats.org/drawingml/2006/main">
            <a:r>
              <a:rPr lang="en-US" sz="1200">
                <a:solidFill>
                  <a:srgbClr val="333333"/>
                </a:solidFill>
              </a:rPr>
              <a:t>Low       █████              1 (10%)</a:t>
            </a:r>
          </a:p>
        </p:txBody>
      </p:sp>
      <p:sp>
        <p:nvSpPr>
          <p:cNvPr id="100124" name="StatusCard"/>
          <p:cNvSpPr txBox="1"/>
          <p:nvPr/>
        </p:nvSpPr>
        <p:spPr>
          <a:xfrm xmlns:a="http://schemas.openxmlformats.org/drawingml/2006/main">
            <a:off x="6120000" y="2052000"/>
            <a:ext cx="5580000" cy="180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200">
                <a:solidFill>
                  <a:srgbClr val="333333"/>
                </a:solidFill>
              </a:rPr>
              <a:t>Outreach Status Breakdown</a:t>
            </a:r>
          </a:p>
          <a:p xmlns:a="http://schemas.openxmlformats.org/drawingml/2006/main">
            <a:r>
              <a:rPr lang="en-US" sz="1200">
                <a:solidFill>
                  <a:srgbClr val="333333"/>
                </a:solidFill>
              </a:rPr>
              <a:t/>
            </a:r>
          </a:p>
          <a:p xmlns:a="http://schemas.openxmlformats.org/drawingml/2006/main">
            <a:r>
              <a:rPr lang="en-US" sz="1200">
                <a:solidFill>
                  <a:srgbClr val="333333"/>
                </a:solidFill>
              </a:rPr>
              <a:t>Pending      ████████████████████  4</a:t>
            </a:r>
          </a:p>
          <a:p xmlns:a="http://schemas.openxmlformats.org/drawingml/2006/main">
            <a:r>
              <a:rPr lang="en-US" sz="1200">
                <a:solidFill>
                  <a:srgbClr val="333333"/>
                </a:solidFill>
              </a:rPr>
              <a:t>Escalated    ████████████  2</a:t>
            </a:r>
          </a:p>
          <a:p xmlns:a="http://schemas.openxmlformats.org/drawingml/2006/main">
            <a:r>
              <a:rPr lang="en-US" sz="1200">
                <a:solidFill>
                  <a:srgbClr val="333333"/>
                </a:solidFill>
              </a:rPr>
              <a:t>Completed    ██████  1</a:t>
            </a:r>
          </a:p>
          <a:p xmlns:a="http://schemas.openxmlformats.org/drawingml/2006/main">
            <a:r>
              <a:rPr lang="en-US" sz="1200">
                <a:solidFill>
                  <a:srgbClr val="333333"/>
                </a:solidFill>
              </a:rPr>
              <a:t>Scheduled    ██████  1</a:t>
            </a:r>
          </a:p>
          <a:p xmlns:a="http://schemas.openxmlformats.org/drawingml/2006/main">
            <a:r>
              <a:rPr lang="en-US" sz="1200">
                <a:solidFill>
                  <a:srgbClr val="333333"/>
                </a:solidFill>
              </a:rPr>
              <a:t>Contacted    ██████  1</a:t>
            </a:r>
          </a:p>
          <a:p xmlns:a="http://schemas.openxmlformats.org/drawingml/2006/main">
            <a:r>
              <a:rPr lang="en-US" sz="1200">
                <a:solidFill>
                  <a:srgbClr val="333333"/>
                </a:solidFill>
              </a:rPr>
              <a:t>No Answer   ██████  1</a:t>
            </a:r>
          </a:p>
        </p:txBody>
      </p:sp>
      <p:sp>
        <p:nvSpPr>
          <p:cNvPr id="100125" name="BarrierTitle"/>
          <p:cNvSpPr txBox="1"/>
          <p:nvPr/>
        </p:nvSpPr>
        <p:spPr>
          <a:xfrm xmlns:a="http://schemas.openxmlformats.org/drawingml/2006/main">
            <a:off x="540000" y="396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b="1">
                <a:solidFill>
                  <a:srgbClr val="1E3A5F"/>
                </a:solidFill>
              </a:rPr>
              <a:t>Care Barrier Analysis</a:t>
            </a:r>
          </a:p>
        </p:txBody>
      </p:sp>
      <p:sp>
        <p:nvSpPr>
          <p:cNvPr id="100126" name="BarrierA"/>
          <p:cNvSpPr txBox="1"/>
          <p:nvPr/>
        </p:nvSpPr>
        <p:spPr>
          <a:xfrm xmlns:a="http://schemas.openxmlformats.org/drawingml/2006/main">
            <a:off x="540000" y="4284000"/>
            <a:ext cx="1620000" cy="90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A56DB"/>
                </a:solidFill>
              </a:rPr>
              <a:t>4</a:t>
            </a:r>
          </a:p>
          <a:p xmlns:a="http://schemas.openxmlformats.org/drawingml/2006/main">
            <a:r>
              <a:rPr lang="en-US" sz="1200">
                <a:solidFill>
                  <a:srgbClr val="1A56DB"/>
                </a:solidFill>
              </a:rPr>
              <a:t>Transportation</a:t>
            </a:r>
          </a:p>
        </p:txBody>
      </p:sp>
      <p:sp>
        <p:nvSpPr>
          <p:cNvPr id="100127" name="BarrierB"/>
          <p:cNvSpPr txBox="1"/>
          <p:nvPr/>
        </p:nvSpPr>
        <p:spPr>
          <a:xfrm xmlns:a="http://schemas.openxmlformats.org/drawingml/2006/main">
            <a:off x="2520000" y="4284000"/>
            <a:ext cx="1620000" cy="9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065F46"/>
                </a:solidFill>
              </a:rPr>
              <a:t>4</a:t>
            </a:r>
          </a:p>
          <a:p xmlns:a="http://schemas.openxmlformats.org/drawingml/2006/main">
            <a:r>
              <a:rPr lang="en-US" sz="1200">
                <a:solidFill>
                  <a:srgbClr val="065F46"/>
                </a:solidFill>
              </a:rPr>
              <a:t>Language</a:t>
            </a:r>
          </a:p>
        </p:txBody>
      </p:sp>
      <p:sp>
        <p:nvSpPr>
          <p:cNvPr id="100128" name="BarrierC"/>
          <p:cNvSpPr txBox="1"/>
          <p:nvPr/>
        </p:nvSpPr>
        <p:spPr>
          <a:xfrm xmlns:a="http://schemas.openxmlformats.org/drawingml/2006/main">
            <a:off x="4500000" y="4284000"/>
            <a:ext cx="1620000" cy="900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200">
                <a:solidFill>
                  <a:srgbClr val="C05621"/>
                </a:solidFill>
              </a:rPr>
              <a:t>3</a:t>
            </a:r>
          </a:p>
          <a:p xmlns:a="http://schemas.openxmlformats.org/drawingml/2006/main">
            <a:r>
              <a:rPr lang="en-US" sz="1200">
                <a:solidFill>
                  <a:srgbClr val="C05621"/>
                </a:solidFill>
              </a:rPr>
              <a:t>Financial</a:t>
            </a:r>
          </a:p>
        </p:txBody>
      </p:sp>
      <p:sp>
        <p:nvSpPr>
          <p:cNvPr id="100129" name="BarrierD"/>
          <p:cNvSpPr txBox="1"/>
          <p:nvPr/>
        </p:nvSpPr>
        <p:spPr>
          <a:xfrm xmlns:a="http://schemas.openxmlformats.org/drawingml/2006/main">
            <a:off x="6480000" y="4284000"/>
            <a:ext cx="1620000" cy="90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a:solidFill>
                  <a:srgbClr val="C81E1E"/>
                </a:solidFill>
              </a:rPr>
              <a:t>1</a:t>
            </a:r>
          </a:p>
          <a:p xmlns:a="http://schemas.openxmlformats.org/drawingml/2006/main">
            <a:r>
              <a:rPr lang="en-US" sz="1200">
                <a:solidFill>
                  <a:srgbClr val="C81E1E"/>
                </a:solidFill>
              </a:rPr>
              <a:t>Social Isolation</a:t>
            </a:r>
          </a:p>
        </p:txBody>
      </p:sp>
      <p:sp>
        <p:nvSpPr>
          <p:cNvPr id="100130" name="BarrierE"/>
          <p:cNvSpPr txBox="1"/>
          <p:nvPr/>
        </p:nvSpPr>
        <p:spPr>
          <a:xfrm xmlns:a="http://schemas.openxmlformats.org/drawingml/2006/main">
            <a:off x="8460000" y="4284000"/>
            <a:ext cx="1620000" cy="90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200">
                <a:solidFill>
                  <a:srgbClr val="5B21B6"/>
                </a:solidFill>
              </a:rPr>
              <a:t>1</a:t>
            </a:r>
          </a:p>
          <a:p xmlns:a="http://schemas.openxmlformats.org/drawingml/2006/main">
            <a:r>
              <a:rPr lang="en-US" sz="1200">
                <a:solidFill>
                  <a:srgbClr val="5B21B6"/>
                </a:solidFill>
              </a:rPr>
              <a:t>Cultural</a:t>
            </a:r>
          </a:p>
        </p:txBody>
      </p:sp>
      <p:sp>
        <p:nvSpPr>
          <p:cNvPr id="100131" name="BarrierF"/>
          <p:cNvSpPr txBox="1"/>
          <p:nvPr/>
        </p:nvSpPr>
        <p:spPr>
          <a:xfrm xmlns:a="http://schemas.openxmlformats.org/drawingml/2006/main">
            <a:off x="10440000" y="4284000"/>
            <a:ext cx="1260000" cy="90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100">
                <a:solidFill>
                  <a:srgbClr val="7C6B00"/>
                </a:solidFill>
              </a:rPr>
              <a:t>1</a:t>
            </a:r>
          </a:p>
          <a:p xmlns:a="http://schemas.openxmlformats.org/drawingml/2006/main">
            <a:r>
              <a:rPr lang="en-US" sz="1100">
                <a:solidFill>
                  <a:srgbClr val="7C6B00"/>
                </a:solidFill>
              </a:rPr>
              <a:t>Health Literacy</a:t>
            </a:r>
          </a:p>
        </p:txBody>
      </p:sp>
      <p:sp>
        <p:nvSpPr>
          <p:cNvPr id="100132" name="RAIBox"/>
          <p:cNvSpPr txBox="1"/>
          <p:nvPr/>
        </p:nvSpPr>
        <p:spPr>
          <a:xfrm xmlns:a="http://schemas.openxmlformats.org/drawingml/2006/main">
            <a:off x="540000" y="5328000"/>
            <a:ext cx="10800000" cy="1008000"/>
          </a:xfrm>
          <a:prstGeom xmlns:a="http://schemas.openxmlformats.org/drawingml/2006/main" prst="rect">
            <a:avLst/>
          </a:prstGeom>
          <a:solidFill xmlns:a="http://schemas.openxmlformats.org/drawingml/2006/main">
            <a:srgbClr val="FFF9C4"/>
          </a:solidFill>
        </p:spPr>
        <p:txBody>
          <a:bodyPr xmlns:a="http://schemas.openxmlformats.org/drawingml/2006/main"/>
          <a:lstStyle xmlns:a="http://schemas.openxmlformats.org/drawingml/2006/main"/>
          <a:p xmlns:a="http://schemas.openxmlformats.org/drawingml/2006/main">
            <a:r>
              <a:rPr lang="en-US" sz="1200">
                <a:solidFill>
                  <a:srgbClr val="7C4A00"/>
                </a:solidFill>
              </a:rPr>
              <a:t>Responsible AI Disclosure  —  Every page includes:</a:t>
            </a:r>
          </a:p>
          <a:p xmlns:a="http://schemas.openxmlformats.org/drawingml/2006/main">
            <a:r>
              <a:rPr lang="en-US" sz="1200">
                <a:solidFill>
                  <a:srgbClr val="7C4A00"/>
                </a:solidFill>
              </a:rPr>
              <a:t>•  Synthetic data notice  •  AI guardrails documentation  •  Missing data visibility  •  Human oversight requirements</a:t>
            </a:r>
          </a:p>
        </p:txBody>
      </p:sp>
      <p:sp>
        <p:nvSpPr>
          <p:cNvPr id="100133"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4"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35"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10  |  AI Agents Deep-Dive</a:t>
            </a:r>
          </a:p>
        </p:txBody>
      </p:sp>
      <p:sp>
        <p:nvSpPr>
          <p:cNvPr id="100136"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7 AI Agents — How They Work</a:t>
            </a:r>
          </a:p>
        </p:txBody>
      </p:sp>
      <p:sp>
        <p:nvSpPr>
          <p:cNvPr id="100137" name="Agent1"/>
          <p:cNvSpPr txBox="1"/>
          <p:nvPr/>
        </p:nvSpPr>
        <p:spPr>
          <a:xfrm xmlns:a="http://schemas.openxmlformats.org/drawingml/2006/main">
            <a:off x="540000" y="1080000"/>
            <a:ext cx="5220000" cy="144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100">
                <a:solidFill>
                  <a:srgbClr val="1E3A5F"/>
                </a:solidFill>
              </a:rPr>
              <a:t>1. Risk Ranking Review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AI score, HbA1c, conditions, missing data</a:t>
            </a:r>
          </a:p>
          <a:p xmlns:a="http://schemas.openxmlformats.org/drawingml/2006/main">
            <a:r>
              <a:rPr lang="en-US" sz="1100">
                <a:solidFill>
                  <a:srgbClr val="1E3A5F"/>
                </a:solidFill>
              </a:rPr>
              <a:t>Logic: Flags inconsistencies — e.g. HbA1c &gt;= 10 but labelled Low</a:t>
            </a:r>
          </a:p>
          <a:p xmlns:a="http://schemas.openxmlformats.org/drawingml/2006/main">
            <a:r>
              <a:rPr lang="en-US" sz="1100">
                <a:solidFill>
                  <a:srgbClr val="1E3A5F"/>
                </a:solidFill>
              </a:rPr>
              <a:t>Output: Suggested risk level + findings list</a:t>
            </a:r>
          </a:p>
          <a:p xmlns:a="http://schemas.openxmlformats.org/drawingml/2006/main">
            <a:r>
              <a:rPr lang="en-US" sz="1100">
                <a:solidFill>
                  <a:srgbClr val="1E3A5F"/>
                </a:solidFill>
              </a:rPr>
              <a:t>File: agents/granite_agent.py → review_ai_risk_ranking()</a:t>
            </a:r>
          </a:p>
        </p:txBody>
      </p:sp>
      <p:sp>
        <p:nvSpPr>
          <p:cNvPr id="100138" name="Agent2"/>
          <p:cNvSpPr txBox="1"/>
          <p:nvPr/>
        </p:nvSpPr>
        <p:spPr>
          <a:xfrm xmlns:a="http://schemas.openxmlformats.org/drawingml/2006/main">
            <a:off x="6120000" y="1080000"/>
            <a:ext cx="5580000" cy="144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100">
                <a:solidFill>
                  <a:srgbClr val="1E3A5F"/>
                </a:solidFill>
              </a:rPr>
              <a:t>2. Evidence Assessment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Missing data flags per patient</a:t>
            </a:r>
          </a:p>
          <a:p xmlns:a="http://schemas.openxmlformats.org/drawingml/2006/main">
            <a:r>
              <a:rPr lang="en-US" sz="1100">
                <a:solidFill>
                  <a:srgbClr val="1E3A5F"/>
                </a:solidFill>
              </a:rPr>
              <a:t>Logic: Counts gaps; raises concern if &gt;= 2 items</a:t>
            </a:r>
          </a:p>
          <a:p xmlns:a="http://schemas.openxmlformats.org/drawingml/2006/main">
            <a:r>
              <a:rPr lang="en-US" sz="1100">
                <a:solidFill>
                  <a:srgbClr val="1E3A5F"/>
                </a:solidFill>
              </a:rPr>
              <a:t>missing in high-risk patient</a:t>
            </a:r>
          </a:p>
          <a:p xmlns:a="http://schemas.openxmlformats.org/drawingml/2006/main">
            <a:r>
              <a:rPr lang="en-US" sz="1100">
                <a:solidFill>
                  <a:srgbClr val="1E3A5F"/>
                </a:solidFill>
              </a:rPr>
              <a:t>Output: Evidence gap list shown in UI warning banner</a:t>
            </a:r>
          </a:p>
        </p:txBody>
      </p:sp>
      <p:sp>
        <p:nvSpPr>
          <p:cNvPr id="100139" name="Agent3"/>
          <p:cNvSpPr txBox="1"/>
          <p:nvPr/>
        </p:nvSpPr>
        <p:spPr>
          <a:xfrm xmlns:a="http://schemas.openxmlformats.org/drawingml/2006/main">
            <a:off x="540000" y="2700000"/>
            <a:ext cx="5220000" cy="144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100">
                <a:solidFill>
                  <a:srgbClr val="1E3A5F"/>
                </a:solidFill>
              </a:rPr>
              <a:t>3. Care Barrier Identification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List of barriers with type and severity</a:t>
            </a:r>
          </a:p>
          <a:p xmlns:a="http://schemas.openxmlformats.org/drawingml/2006/main">
            <a:r>
              <a:rPr lang="en-US" sz="1100">
                <a:solidFill>
                  <a:srgbClr val="1E3A5F"/>
                </a:solidFill>
              </a:rPr>
              <a:t>Logic: Maps barrier type to mitigation action</a:t>
            </a:r>
          </a:p>
          <a:p xmlns:a="http://schemas.openxmlformats.org/drawingml/2006/main">
            <a:r>
              <a:rPr lang="en-US" sz="1100">
                <a:solidFill>
                  <a:srgbClr val="1E3A5F"/>
                </a:solidFill>
              </a:rPr>
              <a:t>Output: Summary + ranked recommendations</a:t>
            </a:r>
          </a:p>
          <a:p xmlns:a="http://schemas.openxmlformats.org/drawingml/2006/main">
            <a:r>
              <a:rPr lang="en-US" sz="1100">
                <a:solidFill>
                  <a:srgbClr val="1E3A5F"/>
                </a:solidFill>
              </a:rPr>
              <a:t>Ex: Language barrier → assign bilingual navigator</a:t>
            </a:r>
          </a:p>
        </p:txBody>
      </p:sp>
      <p:sp>
        <p:nvSpPr>
          <p:cNvPr id="100140" name="Agent4"/>
          <p:cNvSpPr txBox="1"/>
          <p:nvPr/>
        </p:nvSpPr>
        <p:spPr>
          <a:xfrm xmlns:a="http://schemas.openxmlformats.org/drawingml/2006/main">
            <a:off x="6120000" y="2700000"/>
            <a:ext cx="5580000" cy="14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100">
                <a:solidFill>
                  <a:srgbClr val="1E3A5F"/>
                </a:solidFill>
              </a:rPr>
              <a:t>4. Outreach Planning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Risk level, language, barriers</a:t>
            </a:r>
          </a:p>
          <a:p xmlns:a="http://schemas.openxmlformats.org/drawingml/2006/main">
            <a:r>
              <a:rPr lang="en-US" sz="1100">
                <a:solidFill>
                  <a:srgbClr val="1E3A5F"/>
                </a:solidFill>
              </a:rPr>
              <a:t>Logic: Selects contact method + role + timeline</a:t>
            </a:r>
          </a:p>
          <a:p xmlns:a="http://schemas.openxmlformats.org/drawingml/2006/main">
            <a:r>
              <a:rPr lang="en-US" sz="1100">
                <a:solidFill>
                  <a:srgbClr val="1E3A5F"/>
                </a:solidFill>
              </a:rPr>
              <a:t>Rules: Urgent/transport → Home Visit; Language → Phone;</a:t>
            </a:r>
          </a:p>
          <a:p xmlns:a="http://schemas.openxmlformats.org/drawingml/2006/main">
            <a:r>
              <a:rPr lang="en-US" sz="1100">
                <a:solidFill>
                  <a:srgbClr val="1E3A5F"/>
                </a:solidFill>
              </a:rPr>
              <a:t>High → 14 days; Urgent → 3 days</a:t>
            </a:r>
          </a:p>
        </p:txBody>
      </p:sp>
      <p:sp>
        <p:nvSpPr>
          <p:cNvPr id="100141" name="Agent5"/>
          <p:cNvSpPr txBox="1"/>
          <p:nvPr/>
        </p:nvSpPr>
        <p:spPr>
          <a:xfrm xmlns:a="http://schemas.openxmlformats.org/drawingml/2006/main">
            <a:off x="540000" y="4320000"/>
            <a:ext cx="3420000" cy="144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100">
                <a:solidFill>
                  <a:srgbClr val="1E3A5F"/>
                </a:solidFill>
              </a:rPr>
              <a:t>5. Escalation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HbA1c, risk level, barriers, missing data</a:t>
            </a:r>
          </a:p>
          <a:p xmlns:a="http://schemas.openxmlformats.org/drawingml/2006/main">
            <a:r>
              <a:rPr lang="en-US" sz="1100">
                <a:solidFill>
                  <a:srgbClr val="1E3A5F"/>
                </a:solidFill>
              </a:rPr>
              <a:t>Logic: Triggers if HbA1c &gt;= 10 OR Urgent risk OR</a:t>
            </a:r>
          </a:p>
          <a:p xmlns:a="http://schemas.openxmlformats.org/drawingml/2006/main">
            <a:r>
              <a:rPr lang="en-US" sz="1100">
                <a:solidFill>
                  <a:srgbClr val="1E3A5F"/>
                </a:solidFill>
              </a:rPr>
              <a:t>social isolation OR &gt;= 2 missing in high-risk</a:t>
            </a:r>
          </a:p>
          <a:p xmlns:a="http://schemas.openxmlformats.org/drawingml/2006/main">
            <a:r>
              <a:rPr lang="en-US" sz="1100">
                <a:solidFill>
                  <a:srgbClr val="1E3A5F"/>
                </a:solidFill>
              </a:rPr>
              <a:t>Output: escalate=True + reasons list</a:t>
            </a:r>
          </a:p>
        </p:txBody>
      </p:sp>
      <p:sp>
        <p:nvSpPr>
          <p:cNvPr id="100142" name="Agent6"/>
          <p:cNvSpPr txBox="1"/>
          <p:nvPr/>
        </p:nvSpPr>
        <p:spPr>
          <a:xfrm xmlns:a="http://schemas.openxmlformats.org/drawingml/2006/main">
            <a:off x="4320000" y="4320000"/>
            <a:ext cx="3420000" cy="1440000"/>
          </a:xfrm>
          <a:prstGeom xmlns:a="http://schemas.openxmlformats.org/drawingml/2006/main" prst="rect">
            <a:avLst/>
          </a:prstGeom>
          <a:solidFill xmlns:a="http://schemas.openxmlformats.org/drawingml/2006/main">
            <a:srgbClr val="EDE7F6"/>
          </a:solidFill>
        </p:spPr>
        <p:txBody>
          <a:bodyPr xmlns:a="http://schemas.openxmlformats.org/drawingml/2006/main"/>
          <a:lstStyle xmlns:a="http://schemas.openxmlformats.org/drawingml/2006/main"/>
          <a:p xmlns:a="http://schemas.openxmlformats.org/drawingml/2006/main">
            <a:r>
              <a:rPr lang="en-US" sz="1100">
                <a:solidFill>
                  <a:srgbClr val="1E3A5F"/>
                </a:solidFill>
              </a:rPr>
              <a:t>6. IBM Granite Explanation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Full patient data dict</a:t>
            </a:r>
          </a:p>
          <a:p xmlns:a="http://schemas.openxmlformats.org/drawingml/2006/main">
            <a:r>
              <a:rPr lang="en-US" sz="1100">
                <a:solidFill>
                  <a:srgbClr val="1E3A5F"/>
                </a:solidFill>
              </a:rPr>
              <a:t>Logic: Calls Granite API (if key set) or rule-based</a:t>
            </a:r>
          </a:p>
          <a:p xmlns:a="http://schemas.openxmlformats.org/drawingml/2006/main">
            <a:r>
              <a:rPr lang="en-US" sz="1100">
                <a:solidFill>
                  <a:srgbClr val="1E3A5F"/>
                </a:solidFill>
              </a:rPr>
              <a:t>engine; generates plain-English explanation</a:t>
            </a:r>
          </a:p>
          <a:p xmlns:a="http://schemas.openxmlformats.org/drawingml/2006/main">
            <a:r>
              <a:rPr lang="en-US" sz="1100">
                <a:solidFill>
                  <a:srgbClr val="1E3A5F"/>
                </a:solidFill>
              </a:rPr>
              <a:t>Output: Structured markdown explanation with guardrail</a:t>
            </a:r>
          </a:p>
        </p:txBody>
      </p:sp>
      <p:sp>
        <p:nvSpPr>
          <p:cNvPr id="100143" name="Agent7"/>
          <p:cNvSpPr txBox="1"/>
          <p:nvPr/>
        </p:nvSpPr>
        <p:spPr>
          <a:xfrm xmlns:a="http://schemas.openxmlformats.org/drawingml/2006/main">
            <a:off x="8100000" y="4320000"/>
            <a:ext cx="3420000" cy="1440000"/>
          </a:xfrm>
          <a:prstGeom xmlns:a="http://schemas.openxmlformats.org/drawingml/2006/main" prst="rect">
            <a:avLst/>
          </a:prstGeom>
          <a:solidFill xmlns:a="http://schemas.openxmlformats.org/drawingml/2006/main">
            <a:srgbClr val="FFF9C4"/>
          </a:solidFill>
        </p:spPr>
        <p:txBody>
          <a:bodyPr xmlns:a="http://schemas.openxmlformats.org/drawingml/2006/main"/>
          <a:lstStyle xmlns:a="http://schemas.openxmlformats.org/drawingml/2006/main"/>
          <a:p xmlns:a="http://schemas.openxmlformats.org/drawingml/2006/main">
            <a:r>
              <a:rPr lang="en-US" sz="1100">
                <a:solidFill>
                  <a:srgbClr val="1E3A5F"/>
                </a:solidFill>
              </a:rPr>
              <a:t>7. Monitoring &amp; Reporting Agent</a:t>
            </a:r>
          </a:p>
          <a:p xmlns:a="http://schemas.openxmlformats.org/drawingml/2006/main">
            <a:r>
              <a:rPr lang="en-US" sz="1100">
                <a:solidFill>
                  <a:srgbClr val="1E3A5F"/>
                </a:solidFill>
              </a:rPr>
              <a:t/>
            </a:r>
          </a:p>
          <a:p xmlns:a="http://schemas.openxmlformats.org/drawingml/2006/main">
            <a:r>
              <a:rPr lang="en-US" sz="1100">
                <a:solidFill>
                  <a:srgbClr val="1E3A5F"/>
                </a:solidFill>
              </a:rPr>
              <a:t>Input: All DB records</a:t>
            </a:r>
          </a:p>
          <a:p xmlns:a="http://schemas.openxmlformats.org/drawingml/2006/main">
            <a:r>
              <a:rPr lang="en-US" sz="1100">
                <a:solidFill>
                  <a:srgbClr val="1E3A5F"/>
                </a:solidFill>
              </a:rPr>
              <a:t>Logic: Aggregates outreach status, risk distribution,</a:t>
            </a:r>
          </a:p>
          <a:p xmlns:a="http://schemas.openxmlformats.org/drawingml/2006/main">
            <a:r>
              <a:rPr lang="en-US" sz="1100">
                <a:solidFill>
                  <a:srgbClr val="1E3A5F"/>
                </a:solidFill>
              </a:rPr>
              <a:t>barrier counts, escalation status</a:t>
            </a:r>
          </a:p>
          <a:p xmlns:a="http://schemas.openxmlformats.org/drawingml/2006/main">
            <a:r>
              <a:rPr lang="en-US" sz="1100">
                <a:solidFill>
                  <a:srgbClr val="1E3A5F"/>
                </a:solidFill>
              </a:rPr>
              <a:t>Output: Reports page with charts and tables</a:t>
            </a:r>
          </a:p>
        </p:txBody>
      </p:sp>
      <p:sp>
        <p:nvSpPr>
          <p:cNvPr id="100144"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45"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46"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11  |  IBM Granite Integration</a:t>
            </a:r>
          </a:p>
        </p:txBody>
      </p:sp>
      <p:sp>
        <p:nvSpPr>
          <p:cNvPr id="100147"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IBM Granite AI Integration</a:t>
            </a:r>
          </a:p>
        </p:txBody>
      </p:sp>
      <p:sp>
        <p:nvSpPr>
          <p:cNvPr id="100148" name="GraniteInfo"/>
          <p:cNvSpPr txBox="1"/>
          <p:nvPr/>
        </p:nvSpPr>
        <p:spPr>
          <a:xfrm xmlns:a="http://schemas.openxmlformats.org/drawingml/2006/main">
            <a:off x="540000" y="108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333333"/>
                </a:solidFill>
              </a:rPr>
              <a:t>IBM Granite is IBM's enterprise AI model family, available via IBM Cloud. In this system it generates plain-English outreach explanations personalised to each patient's clinical profile and documented barriers.</a:t>
            </a:r>
          </a:p>
        </p:txBody>
      </p:sp>
      <p:sp>
        <p:nvSpPr>
          <p:cNvPr id="100149" name="FlowA"/>
          <p:cNvSpPr txBox="1"/>
          <p:nvPr/>
        </p:nvSpPr>
        <p:spPr>
          <a:xfrm xmlns:a="http://schemas.openxmlformats.org/drawingml/2006/main">
            <a:off x="540000" y="1800000"/>
            <a:ext cx="2340000" cy="126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STEP 1</a:t>
            </a:r>
          </a:p>
          <a:p xmlns:a="http://schemas.openxmlformats.org/drawingml/2006/main">
            <a:r>
              <a:rPr lang="en-US" sz="1200">
                <a:solidFill>
                  <a:srgbClr val="1E3A5F"/>
                </a:solidFill>
              </a:rPr>
              <a:t>User clicks</a:t>
            </a:r>
          </a:p>
          <a:p xmlns:a="http://schemas.openxmlformats.org/drawingml/2006/main">
            <a:r>
              <a:rPr lang="en-US" sz="1200">
                <a:solidFill>
                  <a:srgbClr val="1E3A5F"/>
                </a:solidFill>
              </a:rPr>
              <a:t>'Get AI Explanation'</a:t>
            </a:r>
          </a:p>
          <a:p xmlns:a="http://schemas.openxmlformats.org/drawingml/2006/main">
            <a:r>
              <a:rPr lang="en-US" sz="1200">
                <a:solidFill>
                  <a:srgbClr val="1E3A5F"/>
                </a:solidFill>
              </a:rPr>
              <a:t>on patient detail page</a:t>
            </a:r>
          </a:p>
        </p:txBody>
      </p:sp>
      <p:sp>
        <p:nvSpPr>
          <p:cNvPr id="100150" name="Arrow1"/>
          <p:cNvSpPr txBox="1"/>
          <p:nvPr/>
        </p:nvSpPr>
        <p:spPr>
          <a:xfrm xmlns:a="http://schemas.openxmlformats.org/drawingml/2006/main">
            <a:off x="2988000" y="2232000"/>
            <a:ext cx="432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4472C4"/>
                </a:solidFill>
              </a:rPr>
              <a:t>-&gt;</a:t>
            </a:r>
          </a:p>
        </p:txBody>
      </p:sp>
      <p:sp>
        <p:nvSpPr>
          <p:cNvPr id="100151" name="FlowB"/>
          <p:cNvSpPr txBox="1"/>
          <p:nvPr/>
        </p:nvSpPr>
        <p:spPr>
          <a:xfrm xmlns:a="http://schemas.openxmlformats.org/drawingml/2006/main">
            <a:off x="3492000" y="1800000"/>
            <a:ext cx="2340000" cy="126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1E3A5F"/>
                </a:solidFill>
              </a:rPr>
              <a:t>STEP 2</a:t>
            </a:r>
          </a:p>
          <a:p xmlns:a="http://schemas.openxmlformats.org/drawingml/2006/main">
            <a:r>
              <a:rPr lang="en-US" sz="1200">
                <a:solidFill>
                  <a:srgbClr val="1E3A5F"/>
                </a:solidFill>
              </a:rPr>
              <a:t>FastAPI calls</a:t>
            </a:r>
          </a:p>
          <a:p xmlns:a="http://schemas.openxmlformats.org/drawingml/2006/main">
            <a:r>
              <a:rPr lang="en-US" sz="1200">
                <a:solidFill>
                  <a:srgbClr val="1E3A5F"/>
                </a:solidFill>
              </a:rPr>
              <a:t>get_granite_explanation()</a:t>
            </a:r>
          </a:p>
          <a:p xmlns:a="http://schemas.openxmlformats.org/drawingml/2006/main">
            <a:r>
              <a:rPr lang="en-US" sz="1200">
                <a:solidFill>
                  <a:srgbClr val="1E3A5F"/>
                </a:solidFill>
              </a:rPr>
              <a:t>with patient data dict</a:t>
            </a:r>
          </a:p>
        </p:txBody>
      </p:sp>
      <p:sp>
        <p:nvSpPr>
          <p:cNvPr id="100152" name="Arrow2"/>
          <p:cNvSpPr txBox="1"/>
          <p:nvPr/>
        </p:nvSpPr>
        <p:spPr>
          <a:xfrm xmlns:a="http://schemas.openxmlformats.org/drawingml/2006/main">
            <a:off x="5940000" y="2232000"/>
            <a:ext cx="432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4472C4"/>
                </a:solidFill>
              </a:rPr>
              <a:t>-&gt;</a:t>
            </a:r>
          </a:p>
        </p:txBody>
      </p:sp>
      <p:sp>
        <p:nvSpPr>
          <p:cNvPr id="100153" name="FlowC"/>
          <p:cNvSpPr txBox="1"/>
          <p:nvPr/>
        </p:nvSpPr>
        <p:spPr>
          <a:xfrm xmlns:a="http://schemas.openxmlformats.org/drawingml/2006/main">
            <a:off x="6444000" y="1800000"/>
            <a:ext cx="2340000" cy="1260000"/>
          </a:xfrm>
          <a:prstGeom xmlns:a="http://schemas.openxmlformats.org/drawingml/2006/main" prst="rect">
            <a:avLst/>
          </a:prstGeom>
          <a:solidFill xmlns:a="http://schemas.openxmlformats.org/drawingml/2006/main">
            <a:srgbClr val="EDE7F6"/>
          </a:solidFill>
        </p:spPr>
        <p:txBody>
          <a:bodyPr xmlns:a="http://schemas.openxmlformats.org/drawingml/2006/main"/>
          <a:lstStyle xmlns:a="http://schemas.openxmlformats.org/drawingml/2006/main"/>
          <a:p xmlns:a="http://schemas.openxmlformats.org/drawingml/2006/main">
            <a:r>
              <a:rPr lang="en-US" sz="1200">
                <a:solidFill>
                  <a:srgbClr val="5B21B6"/>
                </a:solidFill>
              </a:rPr>
              <a:t>STEP 3</a:t>
            </a:r>
          </a:p>
          <a:p xmlns:a="http://schemas.openxmlformats.org/drawingml/2006/main">
            <a:r>
              <a:rPr lang="en-US" sz="1200">
                <a:solidFill>
                  <a:srgbClr val="5B21B6"/>
                </a:solidFill>
              </a:rPr>
              <a:t>If GRANITE_API_KEY set:</a:t>
            </a:r>
          </a:p>
          <a:p xmlns:a="http://schemas.openxmlformats.org/drawingml/2006/main">
            <a:r>
              <a:rPr lang="en-US" sz="1200">
                <a:solidFill>
                  <a:srgbClr val="5B21B6"/>
                </a:solidFill>
              </a:rPr>
              <a:t>POST to IBM Cloud</a:t>
            </a:r>
          </a:p>
          <a:p xmlns:a="http://schemas.openxmlformats.org/drawingml/2006/main">
            <a:r>
              <a:rPr lang="en-US" sz="1200">
                <a:solidFill>
                  <a:srgbClr val="5B21B6"/>
                </a:solidFill>
              </a:rPr>
              <a:t>Granite 13B model</a:t>
            </a:r>
          </a:p>
        </p:txBody>
      </p:sp>
      <p:sp>
        <p:nvSpPr>
          <p:cNvPr id="100154" name="Arrow3"/>
          <p:cNvSpPr txBox="1"/>
          <p:nvPr/>
        </p:nvSpPr>
        <p:spPr>
          <a:xfrm xmlns:a="http://schemas.openxmlformats.org/drawingml/2006/main">
            <a:off x="8892000" y="2232000"/>
            <a:ext cx="432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4472C4"/>
                </a:solidFill>
              </a:rPr>
              <a:t>-&gt;</a:t>
            </a:r>
          </a:p>
        </p:txBody>
      </p:sp>
      <p:sp>
        <p:nvSpPr>
          <p:cNvPr id="100155" name="FlowD"/>
          <p:cNvSpPr txBox="1"/>
          <p:nvPr/>
        </p:nvSpPr>
        <p:spPr>
          <a:xfrm xmlns:a="http://schemas.openxmlformats.org/drawingml/2006/main">
            <a:off x="9396000" y="1800000"/>
            <a:ext cx="2340000" cy="126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a:solidFill>
                  <a:srgbClr val="1E3A5F"/>
                </a:solidFill>
              </a:rPr>
              <a:t>STEP 4</a:t>
            </a:r>
          </a:p>
          <a:p xmlns:a="http://schemas.openxmlformats.org/drawingml/2006/main">
            <a:r>
              <a:rPr lang="en-US" sz="1200">
                <a:solidFill>
                  <a:srgbClr val="1E3A5F"/>
                </a:solidFill>
              </a:rPr>
              <a:t>Explanation rendered</a:t>
            </a:r>
          </a:p>
          <a:p xmlns:a="http://schemas.openxmlformats.org/drawingml/2006/main">
            <a:r>
              <a:rPr lang="en-US" sz="1200">
                <a:solidFill>
                  <a:srgbClr val="1E3A5F"/>
                </a:solidFill>
              </a:rPr>
              <a:t>in blue AI panel</a:t>
            </a:r>
          </a:p>
          <a:p xmlns:a="http://schemas.openxmlformats.org/drawingml/2006/main">
            <a:r>
              <a:rPr lang="en-US" sz="1200">
                <a:solidFill>
                  <a:srgbClr val="1E3A5F"/>
                </a:solidFill>
              </a:rPr>
              <a:t>below patient profile</a:t>
            </a:r>
          </a:p>
        </p:txBody>
      </p:sp>
      <p:sp>
        <p:nvSpPr>
          <p:cNvPr id="100156" name="FallbackBox"/>
          <p:cNvSpPr txBox="1"/>
          <p:nvPr/>
        </p:nvSpPr>
        <p:spPr>
          <a:xfrm xmlns:a="http://schemas.openxmlformats.org/drawingml/2006/main">
            <a:off x="540000" y="3312000"/>
            <a:ext cx="10800000" cy="180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200">
                <a:solidFill>
                  <a:srgbClr val="1E40AF"/>
                </a:solidFill>
              </a:rPr>
              <a:t>Intelligent Fallback — Works Without an API Key</a:t>
            </a:r>
          </a:p>
          <a:p xmlns:a="http://schemas.openxmlformats.org/drawingml/2006/main">
            <a:r>
              <a:rPr lang="en-US" sz="1200">
                <a:solidFill>
                  <a:srgbClr val="1E40AF"/>
                </a:solidFill>
              </a:rPr>
              <a:t/>
            </a:r>
          </a:p>
          <a:p xmlns:a="http://schemas.openxmlformats.org/drawingml/2006/main">
            <a:r>
              <a:rPr lang="en-US" sz="1200">
                <a:solidFill>
                  <a:srgbClr val="1E40AF"/>
                </a:solidFill>
              </a:rPr>
              <a:t>If GRANITE_API_KEY is not set, the system automatically uses the built-in</a:t>
            </a:r>
          </a:p>
          <a:p xmlns:a="http://schemas.openxmlformats.org/drawingml/2006/main">
            <a:r>
              <a:rPr lang="en-US" sz="1200">
                <a:solidFill>
                  <a:srgbClr val="1E40AF"/>
                </a:solidFill>
              </a:rPr>
              <a:t>rule-based AI engine (_rule_based_explanation) which applies clinical logic</a:t>
            </a:r>
          </a:p>
          <a:p xmlns:a="http://schemas.openxmlformats.org/drawingml/2006/main">
            <a:r>
              <a:rPr lang="en-US" sz="1200">
                <a:solidFill>
                  <a:srgbClr val="1E40AF"/>
                </a:solidFill>
              </a:rPr>
              <a:t>rules to generate a structured, plain-English explanation covering:</a:t>
            </a:r>
          </a:p>
          <a:p xmlns:a="http://schemas.openxmlformats.org/drawingml/2006/main">
            <a:r>
              <a:rPr lang="en-US" sz="1200">
                <a:solidFill>
                  <a:srgbClr val="1E40AF"/>
                </a:solidFill>
              </a:rPr>
              <a:t>•  Glycaemic control assessment  •  Blood pressure analysis</a:t>
            </a:r>
          </a:p>
          <a:p xmlns:a="http://schemas.openxmlformats.org/drawingml/2006/main">
            <a:r>
              <a:rPr lang="en-US" sz="1200">
                <a:solidFill>
                  <a:srgbClr val="1E40AF"/>
                </a:solidFill>
              </a:rPr>
              <a:t>•  Risk score interpretation        •  Missing data gaps</a:t>
            </a:r>
          </a:p>
          <a:p xmlns:a="http://schemas.openxmlformats.org/drawingml/2006/main">
            <a:r>
              <a:rPr lang="en-US" sz="1200">
                <a:solidFill>
                  <a:srgbClr val="1E40AF"/>
                </a:solidFill>
              </a:rPr>
              <a:t>•  Language/communication needs  •  Professional guardrail notice</a:t>
            </a:r>
          </a:p>
        </p:txBody>
      </p:sp>
      <p:sp>
        <p:nvSpPr>
          <p:cNvPr id="100157" name="SetupBox"/>
          <p:cNvSpPr txBox="1"/>
          <p:nvPr/>
        </p:nvSpPr>
        <p:spPr>
          <a:xfrm xmlns:a="http://schemas.openxmlformats.org/drawingml/2006/main">
            <a:off x="540000" y="5220000"/>
            <a:ext cx="6840000" cy="1080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200">
                <a:solidFill>
                  <a:srgbClr val="93C5FD"/>
                </a:solidFill>
              </a:rPr>
              <a:t>To Enable Real IBM Granite</a:t>
            </a:r>
          </a:p>
          <a:p xmlns:a="http://schemas.openxmlformats.org/drawingml/2006/main">
            <a:r>
              <a:rPr lang="en-US" sz="1200">
                <a:solidFill>
                  <a:srgbClr val="93C5FD"/>
                </a:solidFill>
              </a:rPr>
              <a:t/>
            </a:r>
          </a:p>
          <a:p xmlns:a="http://schemas.openxmlformats.org/drawingml/2006/main">
            <a:r>
              <a:rPr lang="en-US" sz="1200">
                <a:solidFill>
                  <a:srgbClr val="93C5FD"/>
                </a:solidFill>
              </a:rPr>
              <a:t>set GRANITE_API_KEY=your_ibm_cloud_key</a:t>
            </a:r>
          </a:p>
          <a:p xmlns:a="http://schemas.openxmlformats.org/drawingml/2006/main">
            <a:r>
              <a:rPr lang="en-US" sz="1200">
                <a:solidFill>
                  <a:srgbClr val="93C5FD"/>
                </a:solidFill>
              </a:rPr>
              <a:t>python -m uvicorn main:app --reload</a:t>
            </a:r>
          </a:p>
          <a:p xmlns:a="http://schemas.openxmlformats.org/drawingml/2006/main">
            <a:r>
              <a:rPr lang="en-US" sz="1200">
                <a:solidFill>
                  <a:srgbClr val="93C5FD"/>
                </a:solidFill>
              </a:rPr>
              <a:t/>
            </a:r>
          </a:p>
          <a:p xmlns:a="http://schemas.openxmlformats.org/drawingml/2006/main">
            <a:r>
              <a:rPr lang="en-US" sz="1200">
                <a:solidFill>
                  <a:srgbClr val="93C5FD"/>
                </a:solidFill>
              </a:rPr>
              <a:t>Model: ibm/granite-13b-instruct-v2</a:t>
            </a:r>
          </a:p>
          <a:p xmlns:a="http://schemas.openxmlformats.org/drawingml/2006/main">
            <a:r>
              <a:rPr lang="en-US" sz="1200">
                <a:solidFill>
                  <a:srgbClr val="93C5FD"/>
                </a:solidFill>
              </a:rPr>
              <a:t>API: IBM Cloud Watson Machine Learning</a:t>
            </a:r>
          </a:p>
        </p:txBody>
      </p:sp>
      <p:sp>
        <p:nvSpPr>
          <p:cNvPr id="100158" name="OutputBox"/>
          <p:cNvSpPr txBox="1"/>
          <p:nvPr/>
        </p:nvSpPr>
        <p:spPr>
          <a:xfrm xmlns:a="http://schemas.openxmlformats.org/drawingml/2006/main">
            <a:off x="7740000" y="5220000"/>
            <a:ext cx="3960000" cy="108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100">
                <a:solidFill>
                  <a:srgbClr val="065F46"/>
                </a:solidFill>
              </a:rPr>
              <a:t>Sample Output (Rule-based Engine)</a:t>
            </a:r>
          </a:p>
          <a:p xmlns:a="http://schemas.openxmlformats.org/drawingml/2006/main">
            <a:r>
              <a:rPr lang="en-US" sz="1100">
                <a:solidFill>
                  <a:srgbClr val="065F46"/>
                </a:solidFill>
              </a:rPr>
              <a:t/>
            </a:r>
          </a:p>
          <a:p xmlns:a="http://schemas.openxmlformats.org/drawingml/2006/main">
            <a:r>
              <a:rPr lang="en-US" sz="1100">
                <a:solidFill>
                  <a:srgbClr val="065F46"/>
                </a:solidFill>
              </a:rPr>
              <a:t>AI-Assisted Outreach Explanation for James O'Brien</a:t>
            </a:r>
          </a:p>
          <a:p xmlns:a="http://schemas.openxmlformats.org/drawingml/2006/main">
            <a:r>
              <a:rPr lang="en-US" sz="1100">
                <a:solidFill>
                  <a:srgbClr val="065F46"/>
                </a:solidFill>
              </a:rPr>
              <a:t>HbA1c 10.4% — significantly above 7.0% target.</a:t>
            </a:r>
          </a:p>
          <a:p xmlns:a="http://schemas.openxmlformats.org/drawingml/2006/main">
            <a:r>
              <a:rPr lang="en-US" sz="1100">
                <a:solidFill>
                  <a:srgbClr val="065F46"/>
                </a:solidFill>
              </a:rPr>
              <a:t>Risk score 93.5/100 — URGENT category.</a:t>
            </a:r>
          </a:p>
          <a:p xmlns:a="http://schemas.openxmlformats.org/drawingml/2006/main">
            <a:r>
              <a:rPr lang="en-US" sz="1100">
                <a:solidFill>
                  <a:srgbClr val="065F46"/>
                </a:solidFill>
              </a:rPr>
              <a:t>Escalation recommended.</a:t>
            </a:r>
          </a:p>
          <a:p xmlns:a="http://schemas.openxmlformats.org/drawingml/2006/main">
            <a:r>
              <a:rPr lang="en-US" sz="1100">
                <a:solidFill>
                  <a:srgbClr val="065F46"/>
                </a:solidFill>
              </a:rPr>
              <a:t>*(Generated by AI Rule Engine)*</a:t>
            </a:r>
          </a:p>
        </p:txBody>
      </p:sp>
      <p:sp>
        <p:nvSpPr>
          <p:cNvPr id="100159"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60"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61"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12  |  Responsible AI Guardrails</a:t>
            </a:r>
          </a:p>
        </p:txBody>
      </p:sp>
      <p:sp>
        <p:nvSpPr>
          <p:cNvPr id="100162"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Responsible AI Guardrails</a:t>
            </a:r>
          </a:p>
        </p:txBody>
      </p:sp>
      <p:sp>
        <p:nvSpPr>
          <p:cNvPr id="100163" name="Intro"/>
          <p:cNvSpPr txBox="1"/>
          <p:nvPr/>
        </p:nvSpPr>
        <p:spPr>
          <a:xfrm xmlns:a="http://schemas.openxmlformats.org/drawingml/2006/main">
            <a:off x="540000" y="108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333333"/>
                </a:solidFill>
              </a:rPr>
              <a:t>All 7 guardrails from the project brief are implemented and enforced throughout the system. No AI action can occur without passing through these checks.</a:t>
            </a:r>
          </a:p>
        </p:txBody>
      </p:sp>
      <p:sp>
        <p:nvSpPr>
          <p:cNvPr id="100164" name="G1"/>
          <p:cNvSpPr txBox="1"/>
          <p:nvPr/>
        </p:nvSpPr>
        <p:spPr>
          <a:xfrm xmlns:a="http://schemas.openxmlformats.org/drawingml/2006/main">
            <a:off x="540000" y="1548000"/>
            <a:ext cx="3420000" cy="1800000"/>
          </a:xfrm>
          <a:prstGeom xmlns:a="http://schemas.openxmlformats.org/drawingml/2006/main" prst="rect">
            <a:avLst/>
          </a:prstGeom>
          <a:solidFill xmlns:a="http://schemas.openxmlformats.org/drawingml/2006/main">
            <a:srgbClr val="FDE8E8"/>
          </a:solidFill>
        </p:spPr>
        <p:txBody>
          <a:bodyPr xmlns:a="http://schemas.openxmlformats.org/drawingml/2006/main"/>
          <a:lstStyle xmlns:a="http://schemas.openxmlformats.org/drawingml/2006/main"/>
          <a:p xmlns:a="http://schemas.openxmlformats.org/drawingml/2006/main">
            <a:r>
              <a:rPr lang="en-US" sz="1200">
                <a:solidFill>
                  <a:srgbClr val="C81E1E"/>
                </a:solidFill>
              </a:rPr>
              <a:t>GUARDRAIL 1</a:t>
            </a:r>
          </a:p>
          <a:p xmlns:a="http://schemas.openxmlformats.org/drawingml/2006/main">
            <a:r>
              <a:rPr lang="en-US" sz="1200">
                <a:solidFill>
                  <a:srgbClr val="C81E1E"/>
                </a:solidFill>
              </a:rPr>
              <a:t>Synthetic Data Only</a:t>
            </a:r>
          </a:p>
          <a:p xmlns:a="http://schemas.openxmlformats.org/drawingml/2006/main">
            <a:r>
              <a:rPr lang="en-US" sz="1200">
                <a:solidFill>
                  <a:srgbClr val="C81E1E"/>
                </a:solidFill>
              </a:rPr>
              <a:t/>
            </a:r>
          </a:p>
          <a:p xmlns:a="http://schemas.openxmlformats.org/drawingml/2006/main">
            <a:r>
              <a:rPr lang="en-US" sz="1200">
                <a:solidFill>
                  <a:srgbClr val="C81E1E"/>
                </a:solidFill>
              </a:rPr>
              <a:t>All 10 patients are artificially</a:t>
            </a:r>
          </a:p>
          <a:p xmlns:a="http://schemas.openxmlformats.org/drawingml/2006/main">
            <a:r>
              <a:rPr lang="en-US" sz="1200">
                <a:solidFill>
                  <a:srgbClr val="C81E1E"/>
                </a:solidFill>
              </a:rPr>
              <a:t>created. No real patient data is</a:t>
            </a:r>
          </a:p>
          <a:p xmlns:a="http://schemas.openxmlformats.org/drawingml/2006/main">
            <a:r>
              <a:rPr lang="en-US" sz="1200">
                <a:solidFill>
                  <a:srgbClr val="C81E1E"/>
                </a:solidFill>
              </a:rPr>
              <a:t>ever stored, processed, or displayed.</a:t>
            </a:r>
          </a:p>
          <a:p xmlns:a="http://schemas.openxmlformats.org/drawingml/2006/main">
            <a:r>
              <a:rPr lang="en-US" sz="1200">
                <a:solidFill>
                  <a:srgbClr val="C81E1E"/>
                </a:solidFill>
              </a:rPr>
              <a:t>The UI shows a permanent notice.</a:t>
            </a:r>
          </a:p>
        </p:txBody>
      </p:sp>
      <p:sp>
        <p:nvSpPr>
          <p:cNvPr id="100165" name="G2"/>
          <p:cNvSpPr txBox="1"/>
          <p:nvPr/>
        </p:nvSpPr>
        <p:spPr>
          <a:xfrm xmlns:a="http://schemas.openxmlformats.org/drawingml/2006/main">
            <a:off x="4320000" y="1548000"/>
            <a:ext cx="3420000" cy="1800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200">
                <a:solidFill>
                  <a:srgbClr val="C05621"/>
                </a:solidFill>
              </a:rPr>
              <a:t>GUARDRAIL 2</a:t>
            </a:r>
          </a:p>
          <a:p xmlns:a="http://schemas.openxmlformats.org/drawingml/2006/main">
            <a:r>
              <a:rPr lang="en-US" sz="1200">
                <a:solidFill>
                  <a:srgbClr val="C05621"/>
                </a:solidFill>
              </a:rPr>
              <a:t>No Diagnosis or Treatment</a:t>
            </a:r>
          </a:p>
          <a:p xmlns:a="http://schemas.openxmlformats.org/drawingml/2006/main">
            <a:r>
              <a:rPr lang="en-US" sz="1200">
                <a:solidFill>
                  <a:srgbClr val="C05621"/>
                </a:solidFill>
              </a:rPr>
              <a:t/>
            </a:r>
          </a:p>
          <a:p xmlns:a="http://schemas.openxmlformats.org/drawingml/2006/main">
            <a:r>
              <a:rPr lang="en-US" sz="1200">
                <a:solidFill>
                  <a:srgbClr val="C05621"/>
                </a:solidFill>
              </a:rPr>
              <a:t>The AI only generates outreach</a:t>
            </a:r>
          </a:p>
          <a:p xmlns:a="http://schemas.openxmlformats.org/drawingml/2006/main">
            <a:r>
              <a:rPr lang="en-US" sz="1200">
                <a:solidFill>
                  <a:srgbClr val="C05621"/>
                </a:solidFill>
              </a:rPr>
              <a:t>suggestions, never diagnoses.</a:t>
            </a:r>
          </a:p>
          <a:p xmlns:a="http://schemas.openxmlformats.org/drawingml/2006/main">
            <a:r>
              <a:rPr lang="en-US" sz="1200">
                <a:solidFill>
                  <a:srgbClr val="C05621"/>
                </a:solidFill>
              </a:rPr>
              <a:t>The explanation endpoint always</a:t>
            </a:r>
          </a:p>
          <a:p xmlns:a="http://schemas.openxmlformats.org/drawingml/2006/main">
            <a:r>
              <a:rPr lang="en-US" sz="1200">
                <a:solidFill>
                  <a:srgbClr val="C05621"/>
                </a:solidFill>
              </a:rPr>
              <a:t>includes a professional disclaimer.</a:t>
            </a:r>
          </a:p>
        </p:txBody>
      </p:sp>
      <p:sp>
        <p:nvSpPr>
          <p:cNvPr id="100166" name="G3"/>
          <p:cNvSpPr txBox="1"/>
          <p:nvPr/>
        </p:nvSpPr>
        <p:spPr>
          <a:xfrm xmlns:a="http://schemas.openxmlformats.org/drawingml/2006/main">
            <a:off x="8100000" y="1548000"/>
            <a:ext cx="3420000" cy="1800000"/>
          </a:xfrm>
          <a:prstGeom xmlns:a="http://schemas.openxmlformats.org/drawingml/2006/main" prst="rect">
            <a:avLst/>
          </a:prstGeom>
          <a:solidFill xmlns:a="http://schemas.openxmlformats.org/drawingml/2006/main">
            <a:srgbClr val="FDF6B2"/>
          </a:solidFill>
        </p:spPr>
        <p:txBody>
          <a:bodyPr xmlns:a="http://schemas.openxmlformats.org/drawingml/2006/main"/>
          <a:lstStyle xmlns:a="http://schemas.openxmlformats.org/drawingml/2006/main"/>
          <a:p xmlns:a="http://schemas.openxmlformats.org/drawingml/2006/main">
            <a:r>
              <a:rPr lang="en-US" sz="1200">
                <a:solidFill>
                  <a:srgbClr val="7C6B00"/>
                </a:solidFill>
              </a:rPr>
              <a:t>GUARDRAIL 3</a:t>
            </a:r>
          </a:p>
          <a:p xmlns:a="http://schemas.openxmlformats.org/drawingml/2006/main">
            <a:r>
              <a:rPr lang="en-US" sz="1200">
                <a:solidFill>
                  <a:srgbClr val="7C6B00"/>
                </a:solidFill>
              </a:rPr>
              <a:t>No Independent AI Ranking</a:t>
            </a:r>
          </a:p>
          <a:p xmlns:a="http://schemas.openxmlformats.org/drawingml/2006/main">
            <a:r>
              <a:rPr lang="en-US" sz="1200">
                <a:solidFill>
                  <a:srgbClr val="7C6B00"/>
                </a:solidFill>
              </a:rPr>
              <a:t/>
            </a:r>
          </a:p>
          <a:p xmlns:a="http://schemas.openxmlformats.org/drawingml/2006/main">
            <a:r>
              <a:rPr lang="en-US" sz="1200">
                <a:solidFill>
                  <a:srgbClr val="7C6B00"/>
                </a:solidFill>
              </a:rPr>
              <a:t>The Risk Ranking Review Agent</a:t>
            </a:r>
          </a:p>
          <a:p xmlns:a="http://schemas.openxmlformats.org/drawingml/2006/main">
            <a:r>
              <a:rPr lang="en-US" sz="1200">
                <a:solidFill>
                  <a:srgbClr val="7C6B00"/>
                </a:solidFill>
              </a:rPr>
              <a:t>explicitly checks AI scores for</a:t>
            </a:r>
          </a:p>
          <a:p xmlns:a="http://schemas.openxmlformats.org/drawingml/2006/main">
            <a:r>
              <a:rPr lang="en-US" sz="1200">
                <a:solidFill>
                  <a:srgbClr val="7C6B00"/>
                </a:solidFill>
              </a:rPr>
              <a:t>inconsistencies before they are</a:t>
            </a:r>
          </a:p>
          <a:p xmlns:a="http://schemas.openxmlformats.org/drawingml/2006/main">
            <a:r>
              <a:rPr lang="en-US" sz="1200">
                <a:solidFill>
                  <a:srgbClr val="7C6B00"/>
                </a:solidFill>
              </a:rPr>
              <a:t>shown to the care team.</a:t>
            </a:r>
          </a:p>
        </p:txBody>
      </p:sp>
      <p:sp>
        <p:nvSpPr>
          <p:cNvPr id="100167" name="G4"/>
          <p:cNvSpPr txBox="1"/>
          <p:nvPr/>
        </p:nvSpPr>
        <p:spPr>
          <a:xfrm xmlns:a="http://schemas.openxmlformats.org/drawingml/2006/main">
            <a:off x="540000" y="3528000"/>
            <a:ext cx="3420000" cy="180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200">
                <a:solidFill>
                  <a:srgbClr val="065F46"/>
                </a:solidFill>
              </a:rPr>
              <a:t>GUARDRAIL 4</a:t>
            </a:r>
          </a:p>
          <a:p xmlns:a="http://schemas.openxmlformats.org/drawingml/2006/main">
            <a:r>
              <a:rPr lang="en-US" sz="1200">
                <a:solidFill>
                  <a:srgbClr val="065F46"/>
                </a:solidFill>
              </a:rPr>
              <a:t>Human-in-the-Loop Required</a:t>
            </a:r>
          </a:p>
          <a:p xmlns:a="http://schemas.openxmlformats.org/drawingml/2006/main">
            <a:r>
              <a:rPr lang="en-US" sz="1200">
                <a:solidFill>
                  <a:srgbClr val="065F46"/>
                </a:solidFill>
              </a:rPr>
              <a:t/>
            </a:r>
          </a:p>
          <a:p xmlns:a="http://schemas.openxmlformats.org/drawingml/2006/main">
            <a:r>
              <a:rPr lang="en-US" sz="1200">
                <a:solidFill>
                  <a:srgbClr val="065F46"/>
                </a:solidFill>
              </a:rPr>
              <a:t>Every AI outreach plan requires</a:t>
            </a:r>
          </a:p>
          <a:p xmlns:a="http://schemas.openxmlformats.org/drawingml/2006/main">
            <a:r>
              <a:rPr lang="en-US" sz="1200">
                <a:solidFill>
                  <a:srgbClr val="065F46"/>
                </a:solidFill>
              </a:rPr>
              <a:t>a named clinician to Approve,</a:t>
            </a:r>
          </a:p>
          <a:p xmlns:a="http://schemas.openxmlformats.org/drawingml/2006/main">
            <a:r>
              <a:rPr lang="en-US" sz="1200">
                <a:solidFill>
                  <a:srgbClr val="065F46"/>
                </a:solidFill>
              </a:rPr>
              <a:t>Reject, or Flag before any contact</a:t>
            </a:r>
          </a:p>
          <a:p xmlns:a="http://schemas.openxmlformats.org/drawingml/2006/main">
            <a:r>
              <a:rPr lang="en-US" sz="1200">
                <a:solidFill>
                  <a:srgbClr val="065F46"/>
                </a:solidFill>
              </a:rPr>
              <a:t>can be initiated with a patient.</a:t>
            </a:r>
          </a:p>
        </p:txBody>
      </p:sp>
      <p:sp>
        <p:nvSpPr>
          <p:cNvPr id="100168" name="G5"/>
          <p:cNvSpPr txBox="1"/>
          <p:nvPr/>
        </p:nvSpPr>
        <p:spPr>
          <a:xfrm xmlns:a="http://schemas.openxmlformats.org/drawingml/2006/main">
            <a:off x="4320000" y="3528000"/>
            <a:ext cx="3420000" cy="180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GUARDRAIL 5</a:t>
            </a:r>
          </a:p>
          <a:p xmlns:a="http://schemas.openxmlformats.org/drawingml/2006/main">
            <a:r>
              <a:rPr lang="en-US" sz="1200">
                <a:solidFill>
                  <a:srgbClr val="1E3A5F"/>
                </a:solidFill>
              </a:rPr>
              <a:t>Missing Data Flagged</a:t>
            </a:r>
          </a:p>
          <a:p xmlns:a="http://schemas.openxmlformats.org/drawingml/2006/main">
            <a:r>
              <a:rPr lang="en-US" sz="1200">
                <a:solidFill>
                  <a:srgbClr val="1E3A5F"/>
                </a:solidFill>
              </a:rPr>
              <a:t/>
            </a:r>
          </a:p>
          <a:p xmlns:a="http://schemas.openxmlformats.org/drawingml/2006/main">
            <a:r>
              <a:rPr lang="en-US" sz="1200">
                <a:solidFill>
                  <a:srgbClr val="1E3A5F"/>
                </a:solidFill>
              </a:rPr>
              <a:t>The Evidence Assessment Agent</a:t>
            </a:r>
          </a:p>
          <a:p xmlns:a="http://schemas.openxmlformats.org/drawingml/2006/main">
            <a:r>
              <a:rPr lang="en-US" sz="1200">
                <a:solidFill>
                  <a:srgbClr val="1E3A5F"/>
                </a:solidFill>
              </a:rPr>
              <a:t>identifies overdue tests and</a:t>
            </a:r>
          </a:p>
          <a:p xmlns:a="http://schemas.openxmlformats.org/drawingml/2006/main">
            <a:r>
              <a:rPr lang="en-US" sz="1200">
                <a:solidFill>
                  <a:srgbClr val="1E3A5F"/>
                </a:solidFill>
              </a:rPr>
              <a:t>missing records. Yellow warning</a:t>
            </a:r>
          </a:p>
          <a:p xmlns:a="http://schemas.openxmlformats.org/drawingml/2006/main">
            <a:r>
              <a:rPr lang="en-US" sz="1200">
                <a:solidFill>
                  <a:srgbClr val="1E3A5F"/>
                </a:solidFill>
              </a:rPr>
              <a:t>banners appear on patient pages.</a:t>
            </a:r>
          </a:p>
        </p:txBody>
      </p:sp>
      <p:sp>
        <p:nvSpPr>
          <p:cNvPr id="100169" name="G6"/>
          <p:cNvSpPr txBox="1"/>
          <p:nvPr/>
        </p:nvSpPr>
        <p:spPr>
          <a:xfrm xmlns:a="http://schemas.openxmlformats.org/drawingml/2006/main">
            <a:off x="8100000" y="3528000"/>
            <a:ext cx="3420000" cy="1800000"/>
          </a:xfrm>
          <a:prstGeom xmlns:a="http://schemas.openxmlformats.org/drawingml/2006/main" prst="rect">
            <a:avLst/>
          </a:prstGeom>
          <a:solidFill xmlns:a="http://schemas.openxmlformats.org/drawingml/2006/main">
            <a:srgbClr val="EDE7F6"/>
          </a:solidFill>
        </p:spPr>
        <p:txBody>
          <a:bodyPr xmlns:a="http://schemas.openxmlformats.org/drawingml/2006/main"/>
          <a:lstStyle xmlns:a="http://schemas.openxmlformats.org/drawingml/2006/main"/>
          <a:p xmlns:a="http://schemas.openxmlformats.org/drawingml/2006/main">
            <a:r>
              <a:rPr lang="en-US" sz="1200">
                <a:solidFill>
                  <a:srgbClr val="5B21B6"/>
                </a:solidFill>
              </a:rPr>
              <a:t>GUARDRAIL 6</a:t>
            </a:r>
          </a:p>
          <a:p xmlns:a="http://schemas.openxmlformats.org/drawingml/2006/main">
            <a:r>
              <a:rPr lang="en-US" sz="1200">
                <a:solidFill>
                  <a:srgbClr val="5B21B6"/>
                </a:solidFill>
              </a:rPr>
              <a:t>Escalation Route</a:t>
            </a:r>
          </a:p>
          <a:p xmlns:a="http://schemas.openxmlformats.org/drawingml/2006/main">
            <a:r>
              <a:rPr lang="en-US" sz="1200">
                <a:solidFill>
                  <a:srgbClr val="5B21B6"/>
                </a:solidFill>
              </a:rPr>
              <a:t/>
            </a:r>
          </a:p>
          <a:p xmlns:a="http://schemas.openxmlformats.org/drawingml/2006/main">
            <a:r>
              <a:rPr lang="en-US" sz="1200">
                <a:solidFill>
                  <a:srgbClr val="5B21B6"/>
                </a:solidFill>
              </a:rPr>
              <a:t>The Escalation Agent auto-detects</a:t>
            </a:r>
          </a:p>
          <a:p xmlns:a="http://schemas.openxmlformats.org/drawingml/2006/main">
            <a:r>
              <a:rPr lang="en-US" sz="1200">
                <a:solidFill>
                  <a:srgbClr val="5B21B6"/>
                </a:solidFill>
              </a:rPr>
              <a:t>urgent cases. A dedicated Escalation</a:t>
            </a:r>
          </a:p>
          <a:p xmlns:a="http://schemas.openxmlformats.org/drawingml/2006/main">
            <a:r>
              <a:rPr lang="en-US" sz="1200">
                <a:solidFill>
                  <a:srgbClr val="5B21B6"/>
                </a:solidFill>
              </a:rPr>
              <a:t>Log ensures senior clinicians are</a:t>
            </a:r>
          </a:p>
          <a:p xmlns:a="http://schemas.openxmlformats.org/drawingml/2006/main">
            <a:r>
              <a:rPr lang="en-US" sz="1200">
                <a:solidFill>
                  <a:srgbClr val="5B21B6"/>
                </a:solidFill>
              </a:rPr>
              <a:t>alerted and must document resolution.</a:t>
            </a:r>
          </a:p>
        </p:txBody>
      </p:sp>
      <p:sp>
        <p:nvSpPr>
          <p:cNvPr id="100170" name="G7"/>
          <p:cNvSpPr txBox="1"/>
          <p:nvPr/>
        </p:nvSpPr>
        <p:spPr>
          <a:xfrm xmlns:a="http://schemas.openxmlformats.org/drawingml/2006/main">
            <a:off x="540000" y="5508000"/>
            <a:ext cx="10800000" cy="828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300">
                <a:solidFill>
                  <a:srgbClr val="FFFFFF"/>
                </a:solidFill>
              </a:rPr>
              <a:t>GUARDRAIL 7 — Full Audit Trail</a:t>
            </a:r>
          </a:p>
          <a:p xmlns:a="http://schemas.openxmlformats.org/drawingml/2006/main">
            <a:r>
              <a:rPr lang="en-US" sz="1300">
                <a:solidFill>
                  <a:srgbClr val="FFFFFF"/>
                </a:solidFill>
              </a:rPr>
              <a:t>Every review decision, escalation action, and outreach status change is permanently recorded with the reviewer name, timestamp, comments, and approved plan. Nothing is deleted.</a:t>
            </a:r>
          </a:p>
        </p:txBody>
      </p:sp>
      <p:sp>
        <p:nvSpPr>
          <p:cNvPr id="100171"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72"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73"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13  |  Technology Stack</a:t>
            </a:r>
          </a:p>
        </p:txBody>
      </p:sp>
      <p:sp>
        <p:nvSpPr>
          <p:cNvPr id="100174"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Technology Stack</a:t>
            </a:r>
          </a:p>
        </p:txBody>
      </p:sp>
      <p:sp>
        <p:nvSpPr>
          <p:cNvPr id="100175" name="T1"/>
          <p:cNvSpPr txBox="1"/>
          <p:nvPr/>
        </p:nvSpPr>
        <p:spPr>
          <a:xfrm xmlns:a="http://schemas.openxmlformats.org/drawingml/2006/main">
            <a:off x="540000" y="1152000"/>
            <a:ext cx="3420000" cy="1800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200">
                <a:solidFill>
                  <a:srgbClr val="93C5FD"/>
                </a:solidFill>
              </a:rPr>
              <a:t>IBM Bob</a:t>
            </a:r>
          </a:p>
          <a:p xmlns:a="http://schemas.openxmlformats.org/drawingml/2006/main">
            <a:r>
              <a:rPr lang="en-US" sz="1200">
                <a:solidFill>
                  <a:srgbClr val="93C5FD"/>
                </a:solidFill>
              </a:rPr>
              <a:t/>
            </a:r>
          </a:p>
          <a:p xmlns:a="http://schemas.openxmlformats.org/drawingml/2006/main">
            <a:r>
              <a:rPr lang="en-US" sz="1200">
                <a:solidFill>
                  <a:srgbClr val="93C5FD"/>
                </a:solidFill>
              </a:rPr>
              <a:t>AI software development lifecycle</a:t>
            </a:r>
          </a:p>
          <a:p xmlns:a="http://schemas.openxmlformats.org/drawingml/2006/main">
            <a:r>
              <a:rPr lang="en-US" sz="1200">
                <a:solidFill>
                  <a:srgbClr val="93C5FD"/>
                </a:solidFill>
              </a:rPr>
              <a:t>assistant used throughout the project</a:t>
            </a:r>
          </a:p>
          <a:p xmlns:a="http://schemas.openxmlformats.org/drawingml/2006/main">
            <a:r>
              <a:rPr lang="en-US" sz="1200">
                <a:solidFill>
                  <a:srgbClr val="93C5FD"/>
                </a:solidFill>
              </a:rPr>
              <a:t>for code generation, debugging,</a:t>
            </a:r>
          </a:p>
          <a:p xmlns:a="http://schemas.openxmlformats.org/drawingml/2006/main">
            <a:r>
              <a:rPr lang="en-US" sz="1200">
                <a:solidFill>
                  <a:srgbClr val="93C5FD"/>
                </a:solidFill>
              </a:rPr>
              <a:t>architecture decisions, and testing.</a:t>
            </a:r>
          </a:p>
        </p:txBody>
      </p:sp>
      <p:sp>
        <p:nvSpPr>
          <p:cNvPr id="100176" name="T2"/>
          <p:cNvSpPr txBox="1"/>
          <p:nvPr/>
        </p:nvSpPr>
        <p:spPr>
          <a:xfrm xmlns:a="http://schemas.openxmlformats.org/drawingml/2006/main">
            <a:off x="4320000" y="1152000"/>
            <a:ext cx="3420000" cy="1800000"/>
          </a:xfrm>
          <a:prstGeom xmlns:a="http://schemas.openxmlformats.org/drawingml/2006/main" prst="rect">
            <a:avLst/>
          </a:prstGeom>
          <a:solidFill xmlns:a="http://schemas.openxmlformats.org/drawingml/2006/main">
            <a:srgbClr val="EDE7F6"/>
          </a:solidFill>
        </p:spPr>
        <p:txBody>
          <a:bodyPr xmlns:a="http://schemas.openxmlformats.org/drawingml/2006/main"/>
          <a:lstStyle xmlns:a="http://schemas.openxmlformats.org/drawingml/2006/main"/>
          <a:p xmlns:a="http://schemas.openxmlformats.org/drawingml/2006/main">
            <a:r>
              <a:rPr lang="en-US" sz="1200">
                <a:solidFill>
                  <a:srgbClr val="5B21B6"/>
                </a:solidFill>
              </a:rPr>
              <a:t>IBM Granite</a:t>
            </a:r>
          </a:p>
          <a:p xmlns:a="http://schemas.openxmlformats.org/drawingml/2006/main">
            <a:r>
              <a:rPr lang="en-US" sz="1200">
                <a:solidFill>
                  <a:srgbClr val="5B21B6"/>
                </a:solidFill>
              </a:rPr>
              <a:t/>
            </a:r>
          </a:p>
          <a:p xmlns:a="http://schemas.openxmlformats.org/drawingml/2006/main">
            <a:r>
              <a:rPr lang="en-US" sz="1200">
                <a:solidFill>
                  <a:srgbClr val="5B21B6"/>
                </a:solidFill>
              </a:rPr>
              <a:t>Enterprise AI language model.</a:t>
            </a:r>
          </a:p>
          <a:p xmlns:a="http://schemas.openxmlformats.org/drawingml/2006/main">
            <a:r>
              <a:rPr lang="en-US" sz="1200">
                <a:solidFill>
                  <a:srgbClr val="5B21B6"/>
                </a:solidFill>
              </a:rPr>
              <a:t>Generates patient-specific outreach</a:t>
            </a:r>
          </a:p>
          <a:p xmlns:a="http://schemas.openxmlformats.org/drawingml/2006/main">
            <a:r>
              <a:rPr lang="en-US" sz="1200">
                <a:solidFill>
                  <a:srgbClr val="5B21B6"/>
                </a:solidFill>
              </a:rPr>
              <a:t>explanations via IBM Cloud API.</a:t>
            </a:r>
          </a:p>
          <a:p xmlns:a="http://schemas.openxmlformats.org/drawingml/2006/main">
            <a:r>
              <a:rPr lang="en-US" sz="1200">
                <a:solidFill>
                  <a:srgbClr val="5B21B6"/>
                </a:solidFill>
              </a:rPr>
              <a:t>Fallback: rule-based engine.</a:t>
            </a:r>
          </a:p>
        </p:txBody>
      </p:sp>
      <p:sp>
        <p:nvSpPr>
          <p:cNvPr id="100177" name="T3"/>
          <p:cNvSpPr txBox="1"/>
          <p:nvPr/>
        </p:nvSpPr>
        <p:spPr>
          <a:xfrm xmlns:a="http://schemas.openxmlformats.org/drawingml/2006/main">
            <a:off x="8100000" y="1152000"/>
            <a:ext cx="3420000" cy="180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Python 3.12</a:t>
            </a:r>
          </a:p>
          <a:p xmlns:a="http://schemas.openxmlformats.org/drawingml/2006/main">
            <a:r>
              <a:rPr lang="en-US" sz="1200">
                <a:solidFill>
                  <a:srgbClr val="1E3A5F"/>
                </a:solidFill>
              </a:rPr>
              <a:t/>
            </a:r>
          </a:p>
          <a:p xmlns:a="http://schemas.openxmlformats.org/drawingml/2006/main">
            <a:r>
              <a:rPr lang="en-US" sz="1200">
                <a:solidFill>
                  <a:srgbClr val="1E3A5F"/>
                </a:solidFill>
              </a:rPr>
              <a:t>Core programming language.</a:t>
            </a:r>
          </a:p>
          <a:p xmlns:a="http://schemas.openxmlformats.org/drawingml/2006/main">
            <a:r>
              <a:rPr lang="en-US" sz="1200">
                <a:solidFill>
                  <a:srgbClr val="1E3A5F"/>
                </a:solidFill>
              </a:rPr>
              <a:t>Used for all backend logic,</a:t>
            </a:r>
          </a:p>
          <a:p xmlns:a="http://schemas.openxmlformats.org/drawingml/2006/main">
            <a:r>
              <a:rPr lang="en-US" sz="1200">
                <a:solidFill>
                  <a:srgbClr val="1E3A5F"/>
                </a:solidFill>
              </a:rPr>
              <a:t>AI agents, data models,</a:t>
            </a:r>
          </a:p>
          <a:p xmlns:a="http://schemas.openxmlformats.org/drawingml/2006/main">
            <a:r>
              <a:rPr lang="en-US" sz="1200">
                <a:solidFill>
                  <a:srgbClr val="1E3A5F"/>
                </a:solidFill>
              </a:rPr>
              <a:t>and test suite.</a:t>
            </a:r>
          </a:p>
        </p:txBody>
      </p:sp>
      <p:sp>
        <p:nvSpPr>
          <p:cNvPr id="100178" name="T4"/>
          <p:cNvSpPr txBox="1"/>
          <p:nvPr/>
        </p:nvSpPr>
        <p:spPr>
          <a:xfrm xmlns:a="http://schemas.openxmlformats.org/drawingml/2006/main">
            <a:off x="540000" y="3168000"/>
            <a:ext cx="342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065F46"/>
                </a:solidFill>
              </a:rPr>
              <a:t>FastAPI</a:t>
            </a:r>
          </a:p>
          <a:p xmlns:a="http://schemas.openxmlformats.org/drawingml/2006/main">
            <a:r>
              <a:rPr lang="en-US" sz="1200">
                <a:solidFill>
                  <a:srgbClr val="065F46"/>
                </a:solidFill>
              </a:rPr>
              <a:t/>
            </a:r>
          </a:p>
          <a:p xmlns:a="http://schemas.openxmlformats.org/drawingml/2006/main">
            <a:r>
              <a:rPr lang="en-US" sz="1200">
                <a:solidFill>
                  <a:srgbClr val="065F46"/>
                </a:solidFill>
              </a:rPr>
              <a:t>Modern async Python web framework.</a:t>
            </a:r>
          </a:p>
          <a:p xmlns:a="http://schemas.openxmlformats.org/drawingml/2006/main">
            <a:r>
              <a:rPr lang="en-US" sz="1200">
                <a:solidFill>
                  <a:srgbClr val="065F46"/>
                </a:solidFill>
              </a:rPr>
              <a:t>Provides automatic API documentation,</a:t>
            </a:r>
          </a:p>
          <a:p xmlns:a="http://schemas.openxmlformats.org/drawingml/2006/main">
            <a:r>
              <a:rPr lang="en-US" sz="1200">
                <a:solidFill>
                  <a:srgbClr val="065F46"/>
                </a:solidFill>
              </a:rPr>
              <a:t>Pydantic validation, Jinja2 templates,</a:t>
            </a:r>
          </a:p>
          <a:p xmlns:a="http://schemas.openxmlformats.org/drawingml/2006/main">
            <a:r>
              <a:rPr lang="en-US" sz="1200">
                <a:solidFill>
                  <a:srgbClr val="065F46"/>
                </a:solidFill>
              </a:rPr>
              <a:t>and dependency injection.</a:t>
            </a:r>
          </a:p>
        </p:txBody>
      </p:sp>
      <p:sp>
        <p:nvSpPr>
          <p:cNvPr id="100179" name="T5"/>
          <p:cNvSpPr txBox="1"/>
          <p:nvPr/>
        </p:nvSpPr>
        <p:spPr>
          <a:xfrm xmlns:a="http://schemas.openxmlformats.org/drawingml/2006/main">
            <a:off x="4320000" y="3168000"/>
            <a:ext cx="3420000" cy="1800000"/>
          </a:xfrm>
          <a:prstGeom xmlns:a="http://schemas.openxmlformats.org/drawingml/2006/main" prst="rect">
            <a:avLst/>
          </a:prstGeom>
          <a:solidFill xmlns:a="http://schemas.openxmlformats.org/drawingml/2006/main">
            <a:srgbClr val="FDE8D1"/>
          </a:solidFill>
        </p:spPr>
        <p:txBody>
          <a:bodyPr xmlns:a="http://schemas.openxmlformats.org/drawingml/2006/main"/>
          <a:lstStyle xmlns:a="http://schemas.openxmlformats.org/drawingml/2006/main"/>
          <a:p xmlns:a="http://schemas.openxmlformats.org/drawingml/2006/main">
            <a:r>
              <a:rPr lang="en-US" sz="1200">
                <a:solidFill>
                  <a:srgbClr val="C05621"/>
                </a:solidFill>
              </a:rPr>
              <a:t>SQLite + SQLAlchemy</a:t>
            </a:r>
          </a:p>
          <a:p xmlns:a="http://schemas.openxmlformats.org/drawingml/2006/main">
            <a:r>
              <a:rPr lang="en-US" sz="1200">
                <a:solidFill>
                  <a:srgbClr val="C05621"/>
                </a:solidFill>
              </a:rPr>
              <a:t/>
            </a:r>
          </a:p>
          <a:p xmlns:a="http://schemas.openxmlformats.org/drawingml/2006/main">
            <a:r>
              <a:rPr lang="en-US" sz="1200">
                <a:solidFill>
                  <a:srgbClr val="C05621"/>
                </a:solidFill>
              </a:rPr>
              <a:t>Embedded relational database.</a:t>
            </a:r>
          </a:p>
          <a:p xmlns:a="http://schemas.openxmlformats.org/drawingml/2006/main">
            <a:r>
              <a:rPr lang="en-US" sz="1200">
                <a:solidFill>
                  <a:srgbClr val="C05621"/>
                </a:solidFill>
              </a:rPr>
              <a:t>No server required. SQLAlchemy ORM</a:t>
            </a:r>
          </a:p>
          <a:p xmlns:a="http://schemas.openxmlformats.org/drawingml/2006/main">
            <a:r>
              <a:rPr lang="en-US" sz="1200">
                <a:solidFill>
                  <a:srgbClr val="C05621"/>
                </a:solidFill>
              </a:rPr>
              <a:t>provides models for 5 tables:</a:t>
            </a:r>
          </a:p>
          <a:p xmlns:a="http://schemas.openxmlformats.org/drawingml/2006/main">
            <a:r>
              <a:rPr lang="en-US" sz="1200">
                <a:solidFill>
                  <a:srgbClr val="C05621"/>
                </a:solidFill>
              </a:rPr>
              <a:t>Patients, Barriers, Plans, Escalations,</a:t>
            </a:r>
          </a:p>
          <a:p xmlns:a="http://schemas.openxmlformats.org/drawingml/2006/main">
            <a:r>
              <a:rPr lang="en-US" sz="1200">
                <a:solidFill>
                  <a:srgbClr val="C05621"/>
                </a:solidFill>
              </a:rPr>
              <a:t>Reviews.</a:t>
            </a:r>
          </a:p>
        </p:txBody>
      </p:sp>
      <p:sp>
        <p:nvSpPr>
          <p:cNvPr id="100180" name="T6"/>
          <p:cNvSpPr txBox="1"/>
          <p:nvPr/>
        </p:nvSpPr>
        <p:spPr>
          <a:xfrm xmlns:a="http://schemas.openxmlformats.org/drawingml/2006/main">
            <a:off x="8100000" y="3168000"/>
            <a:ext cx="3420000" cy="180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a:solidFill>
                  <a:srgbClr val="C81E1E"/>
                </a:solidFill>
              </a:rPr>
              <a:t>HTML5 + CSS3 + JavaScript</a:t>
            </a:r>
          </a:p>
          <a:p xmlns:a="http://schemas.openxmlformats.org/drawingml/2006/main">
            <a:r>
              <a:rPr lang="en-US" sz="1200">
                <a:solidFill>
                  <a:srgbClr val="C81E1E"/>
                </a:solidFill>
              </a:rPr>
              <a:t/>
            </a:r>
          </a:p>
          <a:p xmlns:a="http://schemas.openxmlformats.org/drawingml/2006/main">
            <a:r>
              <a:rPr lang="en-US" sz="1200">
                <a:solidFill>
                  <a:srgbClr val="C81E1E"/>
                </a:solidFill>
              </a:rPr>
              <a:t>Vanilla frontend — no frameworks.</a:t>
            </a:r>
          </a:p>
          <a:p xmlns:a="http://schemas.openxmlformats.org/drawingml/2006/main">
            <a:r>
              <a:rPr lang="en-US" sz="1200">
                <a:solidFill>
                  <a:srgbClr val="C81E1E"/>
                </a:solidFill>
              </a:rPr>
              <a:t>Custom CSS with CSS variables.</a:t>
            </a:r>
          </a:p>
          <a:p xmlns:a="http://schemas.openxmlformats.org/drawingml/2006/main">
            <a:r>
              <a:rPr lang="en-US" sz="1200">
                <a:solidFill>
                  <a:srgbClr val="C81E1E"/>
                </a:solidFill>
              </a:rPr>
              <a:t>Canvas API for donut chart.</a:t>
            </a:r>
          </a:p>
          <a:p xmlns:a="http://schemas.openxmlformats.org/drawingml/2006/main">
            <a:r>
              <a:rPr lang="en-US" sz="1200">
                <a:solidFill>
                  <a:srgbClr val="C81E1E"/>
                </a:solidFill>
              </a:rPr>
              <a:t>Fetch API for JSON calls.</a:t>
            </a:r>
          </a:p>
          <a:p xmlns:a="http://schemas.openxmlformats.org/drawingml/2006/main">
            <a:r>
              <a:rPr lang="en-US" sz="1200">
                <a:solidFill>
                  <a:srgbClr val="C81E1E"/>
                </a:solidFill>
              </a:rPr>
              <a:t>Jinja2 for server-side templates.</a:t>
            </a:r>
          </a:p>
        </p:txBody>
      </p:sp>
      <p:sp>
        <p:nvSpPr>
          <p:cNvPr id="100181" name="FileCount"/>
          <p:cNvSpPr txBox="1"/>
          <p:nvPr/>
        </p:nvSpPr>
        <p:spPr>
          <a:xfrm xmlns:a="http://schemas.openxmlformats.org/drawingml/2006/main">
            <a:off x="540000" y="5148000"/>
            <a:ext cx="10800000" cy="432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300" b="1">
                <a:solidFill>
                  <a:srgbClr val="1E3A5F"/>
                </a:solidFill>
              </a:rPr>
              <a:t>Total Code: 8 Python files  •  8 HTML templates  •  1 CSS file (295 lines)  •  1 JS file  •  22 automated tests  •  Single-command startup</a:t>
            </a:r>
          </a:p>
        </p:txBody>
      </p:sp>
      <p:sp>
        <p:nvSpPr>
          <p:cNvPr id="100182" name="SetupCmd"/>
          <p:cNvSpPr txBox="1"/>
          <p:nvPr/>
        </p:nvSpPr>
        <p:spPr>
          <a:xfrm xmlns:a="http://schemas.openxmlformats.org/drawingml/2006/main">
            <a:off x="540000" y="5652000"/>
            <a:ext cx="10800000" cy="432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200">
                <a:solidFill>
                  <a:srgbClr val="93C5FD"/>
                </a:solidFill>
              </a:rPr>
              <a:t>pip install -r requirements.txt    then    python -m uvicorn main:app --reload    then open    http://localhost:8000</a:t>
            </a:r>
          </a:p>
        </p:txBody>
      </p:sp>
      <p:sp>
        <p:nvSpPr>
          <p:cNvPr id="100183"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84"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85"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14  |  Test Results</a:t>
            </a:r>
          </a:p>
        </p:txBody>
      </p:sp>
      <p:sp>
        <p:nvSpPr>
          <p:cNvPr id="100186" name="Title"/>
          <p:cNvSpPr txBox="1"/>
          <p:nvPr/>
        </p:nvSpPr>
        <p:spPr>
          <a:xfrm xmlns:a="http://schemas.openxmlformats.org/drawingml/2006/main">
            <a:off x="540000" y="54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1E3A5F"/>
                </a:solidFill>
              </a:rPr>
              <a:t>Automated Test Suite — 22/22 Passing</a:t>
            </a:r>
          </a:p>
        </p:txBody>
      </p:sp>
      <p:sp>
        <p:nvSpPr>
          <p:cNvPr id="100187" name="RunCmd"/>
          <p:cNvSpPr txBox="1"/>
          <p:nvPr/>
        </p:nvSpPr>
        <p:spPr>
          <a:xfrm xmlns:a="http://schemas.openxmlformats.org/drawingml/2006/main">
            <a:off x="540000" y="1044000"/>
            <a:ext cx="10800000" cy="252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200">
                <a:solidFill>
                  <a:srgbClr val="93C5FD"/>
                </a:solidFill>
              </a:rPr>
              <a:t>Run: python test_app.py</a:t>
            </a:r>
          </a:p>
        </p:txBody>
      </p:sp>
      <p:sp>
        <p:nvSpPr>
          <p:cNvPr id="100188" name="Section1Title"/>
          <p:cNvSpPr txBox="1"/>
          <p:nvPr/>
        </p:nvSpPr>
        <p:spPr>
          <a:xfrm xmlns:a="http://schemas.openxmlformats.org/drawingml/2006/main">
            <a:off x="540000" y="1404000"/>
            <a:ext cx="10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1E3A5F"/>
                </a:solidFill>
              </a:rPr>
              <a:t>[1] HTML Page Routes  (8 tests)</a:t>
            </a:r>
          </a:p>
        </p:txBody>
      </p:sp>
      <p:sp>
        <p:nvSpPr>
          <p:cNvPr id="100189" name="Section1"/>
          <p:cNvSpPr txBox="1"/>
          <p:nvPr/>
        </p:nvSpPr>
        <p:spPr>
          <a:xfrm xmlns:a="http://schemas.openxmlformats.org/drawingml/2006/main">
            <a:off x="540000" y="1692000"/>
            <a:ext cx="10800000" cy="1008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100">
                <a:solidFill>
                  <a:srgbClr val="065F46"/>
                </a:solidFill>
              </a:rPr>
              <a:t>PASS  GET  /  -&gt; 200                        PASS  GET  /patients  -&gt; 200</a:t>
            </a:r>
          </a:p>
          <a:p xmlns:a="http://schemas.openxmlformats.org/drawingml/2006/main">
            <a:r>
              <a:rPr lang="en-US" sz="1100">
                <a:solidFill>
                  <a:srgbClr val="065F46"/>
                </a:solidFill>
              </a:rPr>
              <a:t>PASS  GET  /patients/1  -&gt; 200            PASS  GET  /patients/2  -&gt; 200</a:t>
            </a:r>
          </a:p>
          <a:p xmlns:a="http://schemas.openxmlformats.org/drawingml/2006/main">
            <a:r>
              <a:rPr lang="en-US" sz="1100">
                <a:solidFill>
                  <a:srgbClr val="065F46"/>
                </a:solidFill>
              </a:rPr>
              <a:t>PASS  GET  /outreach  -&gt; 200              PASS  GET  /escalations  -&gt; 200</a:t>
            </a:r>
          </a:p>
          <a:p xmlns:a="http://schemas.openxmlformats.org/drawingml/2006/main">
            <a:r>
              <a:rPr lang="en-US" sz="1100">
                <a:solidFill>
                  <a:srgbClr val="065F46"/>
                </a:solidFill>
              </a:rPr>
              <a:t>PASS  GET  /reviews  -&gt; 200               PASS  GET  /reports  -&gt; 200</a:t>
            </a:r>
          </a:p>
        </p:txBody>
      </p:sp>
      <p:sp>
        <p:nvSpPr>
          <p:cNvPr id="100190" name="Section2Title"/>
          <p:cNvSpPr txBox="1"/>
          <p:nvPr/>
        </p:nvSpPr>
        <p:spPr>
          <a:xfrm xmlns:a="http://schemas.openxmlformats.org/drawingml/2006/main">
            <a:off x="540000" y="2772000"/>
            <a:ext cx="10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1E3A5F"/>
                </a:solidFill>
              </a:rPr>
              <a:t>[2] JSON API Read Endpoints  (7 tests)</a:t>
            </a:r>
          </a:p>
        </p:txBody>
      </p:sp>
      <p:sp>
        <p:nvSpPr>
          <p:cNvPr id="100191" name="Section2"/>
          <p:cNvSpPr txBox="1"/>
          <p:nvPr/>
        </p:nvSpPr>
        <p:spPr>
          <a:xfrm xmlns:a="http://schemas.openxmlformats.org/drawingml/2006/main">
            <a:off x="540000" y="3060000"/>
            <a:ext cx="10800000" cy="1008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100">
                <a:solidFill>
                  <a:srgbClr val="065F46"/>
                </a:solidFill>
              </a:rPr>
              <a:t>PASS  GET  /api/patients  -&gt; 200              PASS  GET  /api/patients/1  -&gt; 200</a:t>
            </a:r>
          </a:p>
          <a:p xmlns:a="http://schemas.openxmlformats.org/drawingml/2006/main">
            <a:r>
              <a:rPr lang="en-US" sz="1100">
                <a:solidFill>
                  <a:srgbClr val="065F46"/>
                </a:solidFill>
              </a:rPr>
              <a:t>PASS  GET  /api/patients/9999  -&gt; 404         PASS  GET  /api/dashboard/stats  -&gt; 200</a:t>
            </a:r>
          </a:p>
          <a:p xmlns:a="http://schemas.openxmlformats.org/drawingml/2006/main">
            <a:r>
              <a:rPr lang="en-US" sz="1100">
                <a:solidFill>
                  <a:srgbClr val="065F46"/>
                </a:solidFill>
              </a:rPr>
              <a:t>PASS  GET  /api/patients/1/explain  -&gt; 200    PASS  GET  /api/patients/1/generate-plan  -&gt; 200</a:t>
            </a:r>
          </a:p>
          <a:p xmlns:a="http://schemas.openxmlformats.org/drawingml/2006/main">
            <a:r>
              <a:rPr lang="en-US" sz="1100">
                <a:solidFill>
                  <a:srgbClr val="065F46"/>
                </a:solidFill>
              </a:rPr>
              <a:t>PASS  GET  /api/patients/4/explain  -&gt; 200</a:t>
            </a:r>
          </a:p>
        </p:txBody>
      </p:sp>
      <p:sp>
        <p:nvSpPr>
          <p:cNvPr id="100192" name="Section3Title"/>
          <p:cNvSpPr txBox="1"/>
          <p:nvPr/>
        </p:nvSpPr>
        <p:spPr>
          <a:xfrm xmlns:a="http://schemas.openxmlformats.org/drawingml/2006/main">
            <a:off x="540000" y="4140000"/>
            <a:ext cx="10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1E3A5F"/>
                </a:solidFill>
              </a:rPr>
              <a:t>[3] JSON API Write Endpoints  (4 tests)</a:t>
            </a:r>
          </a:p>
        </p:txBody>
      </p:sp>
      <p:sp>
        <p:nvSpPr>
          <p:cNvPr id="100193" name="Section3"/>
          <p:cNvSpPr txBox="1"/>
          <p:nvPr/>
        </p:nvSpPr>
        <p:spPr>
          <a:xfrm xmlns:a="http://schemas.openxmlformats.org/drawingml/2006/main">
            <a:off x="540000" y="4428000"/>
            <a:ext cx="10800000" cy="72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100">
                <a:solidFill>
                  <a:srgbClr val="065F46"/>
                </a:solidFill>
              </a:rPr>
              <a:t>PASS  POST   /api/outreach/1/status  -&gt; 200       PASS  POST   /api/patients/1/review  -&gt; 200</a:t>
            </a:r>
          </a:p>
          <a:p xmlns:a="http://schemas.openxmlformats.org/drawingml/2006/main">
            <a:r>
              <a:rPr lang="en-US" sz="1100">
                <a:solidFill>
                  <a:srgbClr val="065F46"/>
                </a:solidFill>
              </a:rPr>
              <a:t>PASS  POST   /api/patients/4/escalate  -&gt; 200     PASS  PATCH  /api/escalations/1/resolve  -&gt; 200</a:t>
            </a:r>
          </a:p>
        </p:txBody>
      </p:sp>
      <p:sp>
        <p:nvSpPr>
          <p:cNvPr id="100194" name="Section4Title"/>
          <p:cNvSpPr txBox="1"/>
          <p:nvPr/>
        </p:nvSpPr>
        <p:spPr>
          <a:xfrm xmlns:a="http://schemas.openxmlformats.org/drawingml/2006/main">
            <a:off x="540000" y="5220000"/>
            <a:ext cx="10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1E3A5F"/>
                </a:solidFill>
              </a:rPr>
              <a:t>[4] Agent Logic Tests  (3 tests)</a:t>
            </a:r>
          </a:p>
        </p:txBody>
      </p:sp>
      <p:sp>
        <p:nvSpPr>
          <p:cNvPr id="100195" name="Section4"/>
          <p:cNvSpPr txBox="1"/>
          <p:nvPr/>
        </p:nvSpPr>
        <p:spPr>
          <a:xfrm xmlns:a="http://schemas.openxmlformats.org/drawingml/2006/main">
            <a:off x="540000" y="5508000"/>
            <a:ext cx="10800000" cy="72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100">
                <a:solidFill>
                  <a:srgbClr val="065F46"/>
                </a:solidFill>
              </a:rPr>
              <a:t>PASS  AI explanation contains patient name and sufficient content</a:t>
            </a:r>
          </a:p>
          <a:p xmlns:a="http://schemas.openxmlformats.org/drawingml/2006/main">
            <a:r>
              <a:rPr lang="en-US" sz="1100">
                <a:solidFill>
                  <a:srgbClr val="065F46"/>
                </a:solidFill>
              </a:rPr>
              <a:t>PASS  Outreach plan contains all required fields (contact_method, next_step, responsible_role, follow_up_date, rationale)</a:t>
            </a:r>
          </a:p>
          <a:p xmlns:a="http://schemas.openxmlformats.org/drawingml/2006/main">
            <a:r>
              <a:rPr lang="en-US" sz="1100">
                <a:solidFill>
                  <a:srgbClr val="065F46"/>
                </a:solidFill>
              </a:rPr>
              <a:t>PASS  Dashboard stats: 10 patients, risk={Urgent:3, High:3, Medium:3, Low:1}</a:t>
            </a:r>
          </a:p>
        </p:txBody>
      </p:sp>
      <p:sp>
        <p:nvSpPr>
          <p:cNvPr id="100196" name="ResultBanner"/>
          <p:cNvSpPr txBox="1"/>
          <p:nvPr/>
        </p:nvSpPr>
        <p:spPr>
          <a:xfrm xmlns:a="http://schemas.openxmlformats.org/drawingml/2006/main">
            <a:off x="540000" y="6264000"/>
            <a:ext cx="10800000" cy="1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065F46"/>
                </a:solidFill>
              </a:rPr>
              <a:t>RESULTS: 22/22 passed  ALL PASSED</a:t>
            </a:r>
          </a:p>
        </p:txBody>
      </p:sp>
      <p:sp>
        <p:nvSpPr>
          <p:cNvPr id="100197"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98"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99" name="SlideLabel"/>
          <p:cNvSpPr txBox="1"/>
          <p:nvPr/>
        </p:nvSpPr>
        <p:spPr>
          <a:xfrm xmlns:a="http://schemas.openxmlformats.org/drawingml/2006/main">
            <a:off x="180000" y="72000"/>
            <a:ext cx="72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15  |  Thank You</a:t>
            </a:r>
          </a:p>
        </p:txBody>
      </p:sp>
      <p:sp>
        <p:nvSpPr>
          <p:cNvPr id="100200" name="BigTitle"/>
          <p:cNvSpPr txBox="1"/>
          <p:nvPr/>
        </p:nvSpPr>
        <p:spPr>
          <a:xfrm xmlns:a="http://schemas.openxmlformats.org/drawingml/2006/main">
            <a:off x="540000" y="900000"/>
            <a:ext cx="10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200" b="1">
                <a:solidFill>
                  <a:srgbClr val="1E3A5F"/>
                </a:solidFill>
              </a:rPr>
              <a:t>Thank You</a:t>
            </a:r>
          </a:p>
        </p:txBody>
      </p:sp>
      <p:sp>
        <p:nvSpPr>
          <p:cNvPr id="100201" name="Sub"/>
          <p:cNvSpPr txBox="1"/>
          <p:nvPr/>
        </p:nvSpPr>
        <p:spPr>
          <a:xfrm xmlns:a="http://schemas.openxmlformats.org/drawingml/2006/main">
            <a:off x="540000" y="2088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4472C4"/>
                </a:solidFill>
              </a:rPr>
              <a:t>Agentic AI Patient Outreach &amp; Care Coordination System</a:t>
            </a:r>
          </a:p>
          <a:p xmlns:a="http://schemas.openxmlformats.org/drawingml/2006/main">
            <a:r>
              <a:rPr lang="en-US" sz="1800">
                <a:solidFill>
                  <a:srgbClr val="4472C4"/>
                </a:solidFill>
              </a:rPr>
              <a:t>Developed with IBM Bob  •  IBM Granite  •  Python  •  FastAPI  •  SQLite</a:t>
            </a:r>
          </a:p>
        </p:txBody>
      </p:sp>
      <p:sp>
        <p:nvSpPr>
          <p:cNvPr id="100202" name="Divider"/>
          <p:cNvSpPr txBox="1"/>
          <p:nvPr/>
        </p:nvSpPr>
        <p:spPr>
          <a:xfrm xmlns:a="http://schemas.openxmlformats.org/drawingml/2006/main">
            <a:off x="540000" y="2736000"/>
            <a:ext cx="10800000" cy="2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1E3A5F"/>
              </a:solidFill>
            </a:endParaRPr>
          </a:p>
        </p:txBody>
      </p:sp>
      <p:sp>
        <p:nvSpPr>
          <p:cNvPr id="100203" name="Deliverable1"/>
          <p:cNvSpPr txBox="1"/>
          <p:nvPr/>
        </p:nvSpPr>
        <p:spPr>
          <a:xfrm xmlns:a="http://schemas.openxmlformats.org/drawingml/2006/main">
            <a:off x="540000" y="2952000"/>
            <a:ext cx="2520000" cy="1440000"/>
          </a:xfrm>
          <a:prstGeom xmlns:a="http://schemas.openxmlformats.org/drawingml/2006/main" prst="rect">
            <a:avLst/>
          </a:prstGeom>
          <a:solidFill xmlns:a="http://schemas.openxmlformats.org/drawingml/2006/main">
            <a:srgbClr val="EBF3FB"/>
          </a:solidFill>
        </p:spPr>
        <p:txBody>
          <a:bodyPr xmlns:a="http://schemas.openxmlformats.org/drawingml/2006/main"/>
          <a:lstStyle xmlns:a="http://schemas.openxmlformats.org/drawingml/2006/main"/>
          <a:p xmlns:a="http://schemas.openxmlformats.org/drawingml/2006/main">
            <a:r>
              <a:rPr lang="en-US" sz="1200">
                <a:solidFill>
                  <a:srgbClr val="1E3A5F"/>
                </a:solidFill>
              </a:rPr>
              <a:t>Functional Prototype</a:t>
            </a:r>
          </a:p>
          <a:p xmlns:a="http://schemas.openxmlformats.org/drawingml/2006/main">
            <a:r>
              <a:rPr lang="en-US" sz="1200">
                <a:solidFill>
                  <a:srgbClr val="1E3A5F"/>
                </a:solidFill>
              </a:rPr>
              <a:t>Full web app with 7 pages,</a:t>
            </a:r>
          </a:p>
          <a:p xmlns:a="http://schemas.openxmlformats.org/drawingml/2006/main">
            <a:r>
              <a:rPr lang="en-US" sz="1200">
                <a:solidFill>
                  <a:srgbClr val="1E3A5F"/>
                </a:solidFill>
              </a:rPr>
              <a:t>12 API endpoints, SQLite DB</a:t>
            </a:r>
          </a:p>
        </p:txBody>
      </p:sp>
      <p:sp>
        <p:nvSpPr>
          <p:cNvPr id="100204" name="Deliverable2"/>
          <p:cNvSpPr txBox="1"/>
          <p:nvPr/>
        </p:nvSpPr>
        <p:spPr>
          <a:xfrm xmlns:a="http://schemas.openxmlformats.org/drawingml/2006/main">
            <a:off x="3420000" y="2952000"/>
            <a:ext cx="2520000" cy="144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a:solidFill>
                  <a:srgbClr val="1E3A5F"/>
                </a:solidFill>
              </a:rPr>
              <a:t>AI Agents</a:t>
            </a:r>
          </a:p>
          <a:p xmlns:a="http://schemas.openxmlformats.org/drawingml/2006/main">
            <a:r>
              <a:rPr lang="en-US" sz="1200">
                <a:solidFill>
                  <a:srgbClr val="1E3A5F"/>
                </a:solidFill>
              </a:rPr>
              <a:t>7 specialised agents covering</a:t>
            </a:r>
          </a:p>
          <a:p xmlns:a="http://schemas.openxmlformats.org/drawingml/2006/main">
            <a:r>
              <a:rPr lang="en-US" sz="1200">
                <a:solidFill>
                  <a:srgbClr val="1E3A5F"/>
                </a:solidFill>
              </a:rPr>
              <a:t>risk, barriers, planning, escalation</a:t>
            </a:r>
          </a:p>
        </p:txBody>
      </p:sp>
      <p:sp>
        <p:nvSpPr>
          <p:cNvPr id="100205" name="Deliverable3"/>
          <p:cNvSpPr txBox="1"/>
          <p:nvPr/>
        </p:nvSpPr>
        <p:spPr>
          <a:xfrm xmlns:a="http://schemas.openxmlformats.org/drawingml/2006/main">
            <a:off x="6300000" y="2952000"/>
            <a:ext cx="2520000" cy="144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a:solidFill>
                  <a:srgbClr val="1E3A5F"/>
                </a:solidFill>
              </a:rPr>
              <a:t>Human Oversight</a:t>
            </a:r>
          </a:p>
          <a:p xmlns:a="http://schemas.openxmlformats.org/drawingml/2006/main">
            <a:r>
              <a:rPr lang="en-US" sz="1200">
                <a:solidFill>
                  <a:srgbClr val="1E3A5F"/>
                </a:solidFill>
              </a:rPr>
              <a:t>Full human-in-the-loop workflow</a:t>
            </a:r>
          </a:p>
          <a:p xmlns:a="http://schemas.openxmlformats.org/drawingml/2006/main">
            <a:r>
              <a:rPr lang="en-US" sz="1200">
                <a:solidFill>
                  <a:srgbClr val="1E3A5F"/>
                </a:solidFill>
              </a:rPr>
              <a:t>with audit trail and escalation</a:t>
            </a:r>
          </a:p>
        </p:txBody>
      </p:sp>
      <p:sp>
        <p:nvSpPr>
          <p:cNvPr id="100206" name="Deliverable4"/>
          <p:cNvSpPr txBox="1"/>
          <p:nvPr/>
        </p:nvSpPr>
        <p:spPr>
          <a:xfrm xmlns:a="http://schemas.openxmlformats.org/drawingml/2006/main">
            <a:off x="9180000" y="2952000"/>
            <a:ext cx="2520000" cy="1440000"/>
          </a:xfrm>
          <a:prstGeom xmlns:a="http://schemas.openxmlformats.org/drawingml/2006/main" prst="rect">
            <a:avLst/>
          </a:prstGeom>
          <a:solidFill xmlns:a="http://schemas.openxmlformats.org/drawingml/2006/main">
            <a:srgbClr val="FFF8E1"/>
          </a:solidFill>
        </p:spPr>
        <p:txBody>
          <a:bodyPr xmlns:a="http://schemas.openxmlformats.org/drawingml/2006/main"/>
          <a:lstStyle xmlns:a="http://schemas.openxmlformats.org/drawingml/2006/main"/>
          <a:p xmlns:a="http://schemas.openxmlformats.org/drawingml/2006/main">
            <a:r>
              <a:rPr lang="en-US" sz="1200">
                <a:solidFill>
                  <a:srgbClr val="1E3A5F"/>
                </a:solidFill>
              </a:rPr>
              <a:t>Tests &amp; Docs</a:t>
            </a:r>
          </a:p>
          <a:p xmlns:a="http://schemas.openxmlformats.org/drawingml/2006/main">
            <a:r>
              <a:rPr lang="en-US" sz="1200">
                <a:solidFill>
                  <a:srgbClr val="1E3A5F"/>
                </a:solidFill>
              </a:rPr>
              <a:t>22/22 tests passing</a:t>
            </a:r>
          </a:p>
          <a:p xmlns:a="http://schemas.openxmlformats.org/drawingml/2006/main">
            <a:r>
              <a:rPr lang="en-US" sz="1200">
                <a:solidFill>
                  <a:srgbClr val="1E3A5F"/>
                </a:solidFill>
              </a:rPr>
              <a:t>README with full setup guide</a:t>
            </a:r>
          </a:p>
        </p:txBody>
      </p:sp>
      <p:sp>
        <p:nvSpPr>
          <p:cNvPr id="100207" name="HowToRun"/>
          <p:cNvSpPr txBox="1"/>
          <p:nvPr/>
        </p:nvSpPr>
        <p:spPr>
          <a:xfrm xmlns:a="http://schemas.openxmlformats.org/drawingml/2006/main">
            <a:off x="540000" y="4680000"/>
            <a:ext cx="10800000" cy="432000"/>
          </a:xfrm>
          <a:prstGeom xmlns:a="http://schemas.openxmlformats.org/drawingml/2006/main" prst="rect">
            <a:avLst/>
          </a:prstGeom>
          <a:solidFill xmlns:a="http://schemas.openxmlformats.org/drawingml/2006/main">
            <a:srgbClr val="1E2A3A"/>
          </a:solidFill>
        </p:spPr>
        <p:txBody>
          <a:bodyPr xmlns:a="http://schemas.openxmlformats.org/drawingml/2006/main"/>
          <a:lstStyle xmlns:a="http://schemas.openxmlformats.org/drawingml/2006/main"/>
          <a:p xmlns:a="http://schemas.openxmlformats.org/drawingml/2006/main">
            <a:r>
              <a:rPr lang="en-US" sz="1200">
                <a:solidFill>
                  <a:srgbClr val="93C5FD"/>
                </a:solidFill>
              </a:rPr>
              <a:t>To run the project:   cd patient_outreach_system   then   python -m uvicorn main:app --reload   then open   http://localhost:8000</a:t>
            </a:r>
          </a:p>
        </p:txBody>
      </p:sp>
      <p:sp>
        <p:nvSpPr>
          <p:cNvPr id="100208" name="Disclaimer"/>
          <p:cNvSpPr txBox="1"/>
          <p:nvPr/>
        </p:nvSpPr>
        <p:spPr>
          <a:xfrm xmlns:a="http://schemas.openxmlformats.org/drawingml/2006/main">
            <a:off x="540000" y="5220000"/>
            <a:ext cx="10800000" cy="720000"/>
          </a:xfrm>
          <a:prstGeom xmlns:a="http://schemas.openxmlformats.org/drawingml/2006/main" prst="rect">
            <a:avLst/>
          </a:prstGeom>
          <a:solidFill xmlns:a="http://schemas.openxmlformats.org/drawingml/2006/main">
            <a:srgbClr val="FFF9C4"/>
          </a:solidFill>
        </p:spPr>
        <p:txBody>
          <a:bodyPr xmlns:a="http://schemas.openxmlformats.org/drawingml/2006/main"/>
          <a:lstStyle xmlns:a="http://schemas.openxmlformats.org/drawingml/2006/main"/>
          <a:p xmlns:a="http://schemas.openxmlformats.org/drawingml/2006/main">
            <a:r>
              <a:rPr lang="en-US" sz="1300">
                <a:solidFill>
                  <a:srgbClr val="7C4A00"/>
                </a:solidFill>
              </a:rPr>
              <a:t>All patient data is synthetic and de-identified. This system is for educational demonstration only.</a:t>
            </a:r>
          </a:p>
          <a:p xmlns:a="http://schemas.openxmlformats.org/drawingml/2006/main">
            <a:r>
              <a:rPr lang="en-US" sz="1300">
                <a:solidFill>
                  <a:srgbClr val="7C4A00"/>
                </a:solidFill>
              </a:rPr>
              <a:t>AI recommendations must always be reviewed by a qualified healthcare professional before any action is taken.</a:t>
            </a:r>
          </a:p>
        </p:txBody>
      </p:sp>
      <p:sp>
        <p:nvSpPr>
          <p:cNvPr id="100209" name="BottomBar"/>
          <p:cNvSpPr txBox="1"/>
          <p:nvPr/>
        </p:nvSpPr>
        <p:spPr>
          <a:xfrm xmlns:a="http://schemas.openxmlformats.org/drawingml/2006/main">
            <a:off x="0" y="6480000"/>
            <a:ext cx="12193200" cy="3888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100">
                <a:solidFill>
                  <a:srgbClr val="FFFFFF"/>
                </a:solidFill>
              </a:rPr>
              <a:t>Confidential  •  Synthetic Data Only  •  Not for Clinical Use  •  IBM Bob  •  IBM Granite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2026-10-27T09:28:20Z</dcterms:created>
  <cp:lastModifiedBy>OfficeCLI</cp:lastModifiedBy>
  <dcterms:modified xsi:type="dcterms:W3CDTF">2026-10-27T09:28:20Z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2026-10-27T09:33:43Z</vt:lpwstr>
  </op:property>
</op:Properties>
</file>